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comments+xml" PartName="/ppt/comments/comment4.xml"/>
  <Override ContentType="application/vnd.openxmlformats-officedocument.presentationml.comments+xml" PartName="/ppt/comments/comment3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embeddedFontLst>
    <p:embeddedFont>
      <p:font typeface="Roboto"/>
      <p:regular r:id="rId30"/>
      <p:bold r:id="rId31"/>
      <p:italic r:id="rId32"/>
      <p:boldItalic r:id="rId33"/>
    </p:embeddedFont>
    <p:embeddedFont>
      <p:font typeface="Roboto Mono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8" roundtripDataSignature="AMtx7mi5YNiLwzHH+hXyCukiWjwcYx4NC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4" name="Jake Nathanson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Roboto-bold.fntdata"/><Relationship Id="rId30" Type="http://schemas.openxmlformats.org/officeDocument/2006/relationships/font" Target="fonts/Roboto-regular.fntdata"/><Relationship Id="rId11" Type="http://schemas.openxmlformats.org/officeDocument/2006/relationships/slide" Target="slides/slide6.xml"/><Relationship Id="rId33" Type="http://schemas.openxmlformats.org/officeDocument/2006/relationships/font" Target="fonts/Roboto-boldItalic.fntdata"/><Relationship Id="rId10" Type="http://schemas.openxmlformats.org/officeDocument/2006/relationships/slide" Target="slides/slide5.xml"/><Relationship Id="rId32" Type="http://schemas.openxmlformats.org/officeDocument/2006/relationships/font" Target="fonts/Roboto-italic.fntdata"/><Relationship Id="rId13" Type="http://schemas.openxmlformats.org/officeDocument/2006/relationships/slide" Target="slides/slide8.xml"/><Relationship Id="rId35" Type="http://schemas.openxmlformats.org/officeDocument/2006/relationships/font" Target="fonts/RobotoMono-bold.fntdata"/><Relationship Id="rId12" Type="http://schemas.openxmlformats.org/officeDocument/2006/relationships/slide" Target="slides/slide7.xml"/><Relationship Id="rId34" Type="http://schemas.openxmlformats.org/officeDocument/2006/relationships/font" Target="fonts/RobotoMono-regular.fntdata"/><Relationship Id="rId15" Type="http://schemas.openxmlformats.org/officeDocument/2006/relationships/slide" Target="slides/slide10.xml"/><Relationship Id="rId37" Type="http://schemas.openxmlformats.org/officeDocument/2006/relationships/font" Target="fonts/RobotoMono-boldItalic.fntdata"/><Relationship Id="rId14" Type="http://schemas.openxmlformats.org/officeDocument/2006/relationships/slide" Target="slides/slide9.xml"/><Relationship Id="rId36" Type="http://schemas.openxmlformats.org/officeDocument/2006/relationships/font" Target="fonts/RobotoMono-italic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38" Type="http://customschemas.google.com/relationships/presentationmetadata" Target="meta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5-04-10T16:11:21.896">
    <p:pos x="414" y="2500"/>
    <p:text>My thinking is to introduce the tool on a more high level (not basic introduction like last slide), explain our additions made, and show an example of granular, method level profiling (unless we want to reserve a full demo for a different portion of the presentation)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gm5o298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" dt="2025-04-17T16:19:59.123">
    <p:pos x="6000" y="0"/>
    <p:text>If possible, reduce text to format image better in the slide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iHpxMpA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5-04-10T14:55:36.967">
    <p:pos x="239" y="1202"/>
    <p:text>This needs a new title to flow better.
We need to also add whatever we are using for construction of GNN and GNN training model.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hoL4PhU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4" dt="2025-04-17T16:23:00.742">
    <p:pos x="6000" y="0"/>
    <p:text>Add citations for visuals and other info gathered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iHpxMpI"/>
      </p:ext>
    </p:extLs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4dd5570ebb_5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g34dd5570ebb_5_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404040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CST </a:t>
            </a:r>
            <a:r>
              <a:rPr lang="en-US">
                <a:solidFill>
                  <a:srgbClr val="404040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is similar to AST but </a:t>
            </a:r>
            <a:r>
              <a:rPr lang="en-US">
                <a:solidFill>
                  <a:srgbClr val="1F2328"/>
                </a:solidFill>
                <a:highlight>
                  <a:srgbClr val="FFFFFF"/>
                </a:highlight>
              </a:rPr>
              <a:t>keeps all formatting details.(Whitespace, comments)</a:t>
            </a:r>
            <a:r>
              <a:rPr b="1" lang="en-US">
                <a:solidFill>
                  <a:srgbClr val="404040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Visitors</a:t>
            </a:r>
            <a:r>
              <a:rPr lang="en-US">
                <a:solidFill>
                  <a:srgbClr val="404040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traverse the CST to collect data;</a:t>
            </a:r>
            <a:r>
              <a:rPr b="1" lang="en-US">
                <a:solidFill>
                  <a:srgbClr val="404040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Transformers</a:t>
            </a:r>
            <a:r>
              <a:rPr lang="en-US">
                <a:solidFill>
                  <a:srgbClr val="404040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modify nodes</a:t>
            </a:r>
            <a:endParaRPr/>
          </a:p>
        </p:txBody>
      </p:sp>
      <p:sp>
        <p:nvSpPr>
          <p:cNvPr id="89" name="Google Shape;8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100"/>
              <a:t>Slide Title: TDP Overview &amp; Accuracy</a:t>
            </a: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 sz="1100"/>
              <a:t>What is TDP?</a:t>
            </a:r>
            <a:br>
              <a:rPr b="1" lang="en-US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US" sz="1100"/>
              <a:t>Vendor‑published </a:t>
            </a:r>
            <a:r>
              <a:rPr i="1" lang="en-US" sz="1100"/>
              <a:t>thermal design power</a:t>
            </a:r>
            <a:r>
              <a:rPr lang="en-US" sz="1100"/>
              <a:t>: max sustained heat ≈ steady‑state watts at base clock</a:t>
            </a:r>
            <a:br>
              <a:rPr lang="en-US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US" sz="1100"/>
              <a:t>Cooling‑budget number → not the chip’s moment‑to‑moment draw</a:t>
            </a:r>
            <a:br>
              <a:rPr lang="en-US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 sz="1100"/>
              <a:t>Why use it in Scalene?</a:t>
            </a:r>
            <a:br>
              <a:rPr b="1" lang="en-US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US" sz="1100"/>
              <a:t>Available for every CPU/GPU; no kernel/driver hoops</a:t>
            </a:r>
            <a:br>
              <a:rPr lang="en-US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US" sz="1100"/>
              <a:t>Stable upper bound lets us turn </a:t>
            </a:r>
            <a:r>
              <a:rPr i="1" lang="en-US" sz="1100"/>
              <a:t>CPU‑time → joules</a:t>
            </a:r>
            <a:r>
              <a:rPr lang="en-US" sz="1100"/>
              <a:t> fast</a:t>
            </a:r>
            <a:br>
              <a:rPr lang="en-US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US" sz="1100"/>
              <a:t>One lookup per host, then cached (MongoDB) → zero scrape‑maintenance</a:t>
            </a:r>
            <a:br>
              <a:rPr lang="en-US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 sz="1100"/>
              <a:t>Handling “background processes” accuracy concerns</a:t>
            </a:r>
            <a:br>
              <a:rPr b="1" lang="en-US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n-US" sz="1100"/>
              <a:t>Idle baseline measured, then subtracted</a:t>
            </a:r>
            <a:r>
              <a:rPr lang="en-US" sz="1100"/>
              <a:t> → </a:t>
            </a:r>
            <a:r>
              <a:rPr lang="en-US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effective TDP = TDP – idle_watts</a:t>
            </a:r>
            <a:br>
              <a:rPr lang="en-US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endParaRPr sz="11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US" sz="1100"/>
              <a:t>Energy billed by </a:t>
            </a:r>
            <a:r>
              <a:rPr b="1" lang="en-US" sz="1100"/>
              <a:t>process CPU‑time share</a:t>
            </a:r>
            <a:r>
              <a:rPr lang="en-US" sz="1100"/>
              <a:t> → other apps’ cycles aren’t charged to your code</a:t>
            </a:r>
            <a:br>
              <a:rPr lang="en-US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b="1" lang="en-US" sz="1100"/>
              <a:t>Periodic re‑sampling</a:t>
            </a:r>
            <a:r>
              <a:rPr lang="en-US" sz="1100"/>
              <a:t> adjusts baseline if system load drifts</a:t>
            </a:r>
            <a:br>
              <a:rPr lang="en-US" sz="1100"/>
            </a:br>
            <a:endParaRPr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-US" sz="1100"/>
              <a:t>Validation vs. RAPL/NVML: </a:t>
            </a:r>
            <a:r>
              <a:rPr b="1" lang="en-US" sz="1100"/>
              <a:t>±15 % CPU, ±20 % GPU</a:t>
            </a:r>
            <a:r>
              <a:rPr lang="en-US" sz="1100"/>
              <a:t> (flag available for tighter hardware meters)</a:t>
            </a:r>
            <a:br>
              <a:rPr lang="en-US" sz="1100"/>
            </a:b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-US" sz="1100"/>
              <a:t>Key takeaway</a:t>
            </a:r>
            <a:br>
              <a:rPr b="1" lang="en-US" sz="1100"/>
            </a:br>
            <a:endParaRPr b="1" sz="1100"/>
          </a:p>
          <a:p>
            <a:pPr indent="-29845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i="1" lang="en-US" sz="1100"/>
              <a:t>TDP + live idle subtraction</a:t>
            </a:r>
            <a:r>
              <a:rPr lang="en-US" sz="1100"/>
              <a:t> = quick, portable, “good‑enough” energy estimate focused on </a:t>
            </a:r>
            <a:r>
              <a:rPr b="1" lang="en-US" sz="1100"/>
              <a:t>your</a:t>
            </a:r>
            <a:r>
              <a:rPr lang="en-US" sz="1100"/>
              <a:t> code</a:t>
            </a:r>
            <a:br>
              <a:rPr lang="en-US" sz="1100"/>
            </a:b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Arial"/>
              <a:buNone/>
            </a:pPr>
            <a:r>
              <a:rPr lang="en-US" sz="1600">
                <a:solidFill>
                  <a:srgbClr val="666666"/>
                </a:solidFill>
              </a:rPr>
              <a:t>Web scraping for CPU TDP values is unreliable and time-consuming Information is fragmented across vendor websites, forums, and third-party databases. </a:t>
            </a:r>
            <a:endParaRPr sz="1600">
              <a:solidFill>
                <a:srgbClr val="666666"/>
              </a:solidFill>
            </a:endParaRPr>
          </a:p>
          <a:p>
            <a:pPr indent="0" lvl="0" marL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Arial"/>
              <a:buNone/>
            </a:pPr>
            <a:r>
              <a:rPr lang="en-US" sz="1600">
                <a:solidFill>
                  <a:srgbClr val="666666"/>
                </a:solidFill>
              </a:rPr>
              <a:t>Scraping introduces maintenance overhead and is difficult to generalize Instead, we use py-cpuinfo to programmatically detect the user’s CPU model. </a:t>
            </a:r>
            <a:endParaRPr sz="1600">
              <a:solidFill>
                <a:srgbClr val="666666"/>
              </a:solidFill>
            </a:endParaRPr>
          </a:p>
          <a:p>
            <a:pPr indent="0" lvl="0" marL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80"/>
              <a:buFont typeface="Arial"/>
              <a:buNone/>
            </a:pPr>
            <a:r>
              <a:rPr lang="en-US" sz="1600">
                <a:solidFill>
                  <a:srgbClr val="666666"/>
                </a:solidFill>
              </a:rPr>
              <a:t>This model name is passed to OpenAI’s GPT-4o API, which retrieves or estimates the CPU’s TDP GPT-4o is capable of synthesizing information from various sources, eliminating the need for scraping This method is simpler to implement and maintain</a:t>
            </a:r>
            <a:endParaRPr sz="1600">
              <a:solidFill>
                <a:srgbClr val="666666"/>
              </a:solidFill>
            </a:endParaRPr>
          </a:p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60"/>
              <a:buFont typeface="Arial"/>
              <a:buNone/>
            </a:pPr>
            <a:r>
              <a:rPr lang="en-US" sz="1900">
                <a:solidFill>
                  <a:srgbClr val="666666"/>
                </a:solidFill>
              </a:rPr>
              <a:t>To minimize API usage and cost, all results are cached in a backend MongoDB database:</a:t>
            </a:r>
            <a:endParaRPr sz="1900">
              <a:solidFill>
                <a:srgbClr val="666666"/>
              </a:solidFill>
            </a:endParaRPr>
          </a:p>
          <a:p>
            <a:pPr indent="-34925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5BBB"/>
              </a:buClr>
              <a:buSzPts val="1900"/>
              <a:buChar char="•"/>
            </a:pPr>
            <a:r>
              <a:rPr lang="en-US" sz="1900">
                <a:solidFill>
                  <a:srgbClr val="666666"/>
                </a:solidFill>
              </a:rPr>
              <a:t>Prevents duplicate queries </a:t>
            </a:r>
            <a:endParaRPr sz="1900">
              <a:solidFill>
                <a:srgbClr val="666666"/>
              </a:solidFill>
            </a:endParaRPr>
          </a:p>
          <a:p>
            <a:pPr indent="-34925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5BBB"/>
              </a:buClr>
              <a:buSzPts val="1900"/>
              <a:buChar char="•"/>
            </a:pPr>
            <a:r>
              <a:rPr lang="en-US" sz="1900">
                <a:solidFill>
                  <a:srgbClr val="666666"/>
                </a:solidFill>
              </a:rPr>
              <a:t>Enables faster responses over time </a:t>
            </a:r>
            <a:endParaRPr sz="1900">
              <a:solidFill>
                <a:srgbClr val="666666"/>
              </a:solidFill>
            </a:endParaRPr>
          </a:p>
          <a:p>
            <a:pPr indent="-34925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5BBB"/>
              </a:buClr>
              <a:buSzPts val="1900"/>
              <a:buChar char="•"/>
            </a:pPr>
            <a:r>
              <a:rPr lang="en-US" sz="1900">
                <a:solidFill>
                  <a:srgbClr val="666666"/>
                </a:solidFill>
              </a:rPr>
              <a:t>End users do not need an OpenAI account or API key which makes the tool more accessible</a:t>
            </a:r>
            <a:endParaRPr sz="19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/>
            </a:br>
            <a:br>
              <a:rPr lang="en-US"/>
            </a:br>
            <a:r>
              <a:rPr lang="en-US" sz="1700">
                <a:solidFill>
                  <a:srgbClr val="666666"/>
                </a:solidFill>
              </a:rPr>
              <a:t> information is scattered across vendor sites, forums, and databases, making it hard to generalize.</a:t>
            </a:r>
            <a:endParaRPr sz="17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/>
            </a:br>
            <a:endParaRPr/>
          </a:p>
        </p:txBody>
      </p:sp>
      <p:sp>
        <p:nvSpPr>
          <p:cNvPr id="148" name="Google Shape;14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522ca145ae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g3522ca145ae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5244e2e2af_0_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5244e2e2af_0_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g35244e2e2af_0_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4f22ff3e9f_1_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4f22ff3e9f_1_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g34f22ff3e9f_1_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5244e2e2af_0_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5244e2e2af_0_1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g35244e2e2af_0_1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4dd5570ebb_6_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g34dd5570ebb_6_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7abde9c7342a212d_3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" name="Google Shape;233;g7abde9c7342a212d_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 showMasterSp="0">
  <p:cSld name="Title Slide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8"/>
          <p:cNvSpPr txBox="1"/>
          <p:nvPr>
            <p:ph idx="1" type="body"/>
          </p:nvPr>
        </p:nvSpPr>
        <p:spPr>
          <a:xfrm>
            <a:off x="658368" y="3968496"/>
            <a:ext cx="6638400" cy="165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336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65760" lvl="1" marL="9144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2pPr>
            <a:lvl3pPr indent="-365760" lvl="2" marL="13716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3pPr>
            <a:lvl4pPr indent="-365760" lvl="3" marL="18288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4pPr>
            <a:lvl5pPr indent="-365760" lvl="4" marL="22860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28"/>
          <p:cNvSpPr txBox="1"/>
          <p:nvPr>
            <p:ph type="ctrTitle"/>
          </p:nvPr>
        </p:nvSpPr>
        <p:spPr>
          <a:xfrm>
            <a:off x="658368" y="1490472"/>
            <a:ext cx="6638400" cy="2386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6666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Arial"/>
              <a:buNone/>
              <a:defRPr b="1" i="0" sz="6000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University at Buffalo, The State University of New York logo" id="17" name="Google Shape;17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0400" y="6041329"/>
            <a:ext cx="4800604" cy="355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ulleted List" type="obj">
  <p:cSld name="OBJECT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9"/>
          <p:cNvSpPr txBox="1"/>
          <p:nvPr>
            <p:ph type="title"/>
          </p:nvPr>
        </p:nvSpPr>
        <p:spPr>
          <a:xfrm>
            <a:off x="566928" y="1499616"/>
            <a:ext cx="6951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9"/>
          <p:cNvSpPr txBox="1"/>
          <p:nvPr>
            <p:ph idx="1" type="body"/>
          </p:nvPr>
        </p:nvSpPr>
        <p:spPr>
          <a:xfrm>
            <a:off x="566928" y="2185416"/>
            <a:ext cx="6951600" cy="396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•"/>
              <a:defRPr/>
            </a:lvl1pPr>
            <a:lvl2pPr indent="-365760" lvl="1" marL="9144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2pPr>
            <a:lvl3pPr indent="-365760" lvl="2" marL="13716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3pPr>
            <a:lvl4pPr indent="-365760" lvl="3" marL="18288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4pPr>
            <a:lvl5pPr indent="-365760" lvl="4" marL="22860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0"/>
          <p:cNvSpPr txBox="1"/>
          <p:nvPr>
            <p:ph type="title"/>
          </p:nvPr>
        </p:nvSpPr>
        <p:spPr>
          <a:xfrm>
            <a:off x="566928" y="1499616"/>
            <a:ext cx="10515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0"/>
          <p:cNvSpPr txBox="1"/>
          <p:nvPr>
            <p:ph idx="1" type="body"/>
          </p:nvPr>
        </p:nvSpPr>
        <p:spPr>
          <a:xfrm>
            <a:off x="566928" y="2185416"/>
            <a:ext cx="5139000" cy="3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920"/>
              <a:buNone/>
              <a:defRPr b="1" sz="1600" cap="none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400"/>
              <a:buNone/>
              <a:defRPr b="1" sz="2000"/>
            </a:lvl2pPr>
            <a:lvl3pPr indent="-228600" lvl="2" marL="13716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None/>
              <a:defRPr b="1" sz="1800"/>
            </a:lvl3pPr>
            <a:lvl4pPr indent="-228600" lvl="3" marL="18288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920"/>
              <a:buNone/>
              <a:defRPr b="1" sz="1600"/>
            </a:lvl4pPr>
            <a:lvl5pPr indent="-228600" lvl="4" marL="22860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92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4" name="Google Shape;24;p30"/>
          <p:cNvSpPr txBox="1"/>
          <p:nvPr>
            <p:ph idx="2" type="body"/>
          </p:nvPr>
        </p:nvSpPr>
        <p:spPr>
          <a:xfrm>
            <a:off x="566928" y="2593340"/>
            <a:ext cx="5140500" cy="35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160"/>
              <a:buFont typeface="Arial"/>
              <a:buChar char="•"/>
              <a:defRPr/>
            </a:lvl1pPr>
            <a:lvl2pPr indent="-365760" lvl="1" marL="9144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2pPr>
            <a:lvl3pPr indent="-365760" lvl="2" marL="13716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3pPr>
            <a:lvl4pPr indent="-365760" lvl="3" marL="18288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4pPr>
            <a:lvl5pPr indent="-365760" lvl="4" marL="22860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30"/>
          <p:cNvSpPr txBox="1"/>
          <p:nvPr>
            <p:ph idx="3" type="body"/>
          </p:nvPr>
        </p:nvSpPr>
        <p:spPr>
          <a:xfrm>
            <a:off x="6172200" y="2185416"/>
            <a:ext cx="5139000" cy="3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920"/>
              <a:buNone/>
              <a:defRPr b="1" sz="1600" cap="none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400"/>
              <a:buNone/>
              <a:defRPr b="1" sz="2000"/>
            </a:lvl2pPr>
            <a:lvl3pPr indent="-228600" lvl="2" marL="13716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None/>
              <a:defRPr b="1" sz="1800"/>
            </a:lvl3pPr>
            <a:lvl4pPr indent="-228600" lvl="3" marL="18288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920"/>
              <a:buNone/>
              <a:defRPr b="1" sz="1600"/>
            </a:lvl4pPr>
            <a:lvl5pPr indent="-228600" lvl="4" marL="22860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92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6" name="Google Shape;26;p30"/>
          <p:cNvSpPr txBox="1"/>
          <p:nvPr>
            <p:ph idx="4" type="body"/>
          </p:nvPr>
        </p:nvSpPr>
        <p:spPr>
          <a:xfrm>
            <a:off x="6172200" y="2590800"/>
            <a:ext cx="5139000" cy="3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160"/>
              <a:buFont typeface="Arial"/>
              <a:buChar char="•"/>
              <a:defRPr/>
            </a:lvl1pPr>
            <a:lvl2pPr indent="-365760" lvl="1" marL="9144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2pPr>
            <a:lvl3pPr indent="-365760" lvl="2" marL="13716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3pPr>
            <a:lvl4pPr indent="-365760" lvl="3" marL="18288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4pPr>
            <a:lvl5pPr indent="-365760" lvl="4" marL="22860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Slide 1" showMasterSp="0">
  <p:cSld name="Divider Slide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1"/>
          <p:cNvSpPr txBox="1"/>
          <p:nvPr>
            <p:ph type="ctrTitle"/>
          </p:nvPr>
        </p:nvSpPr>
        <p:spPr>
          <a:xfrm>
            <a:off x="658368" y="1490663"/>
            <a:ext cx="66384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6666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b="1" i="0" sz="6000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1"/>
          <p:cNvSpPr txBox="1"/>
          <p:nvPr>
            <p:ph idx="1" type="subTitle"/>
          </p:nvPr>
        </p:nvSpPr>
        <p:spPr>
          <a:xfrm>
            <a:off x="658368" y="3970337"/>
            <a:ext cx="6638400" cy="22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3360"/>
              <a:buNone/>
              <a:defRPr b="0"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400"/>
              <a:buNone/>
              <a:defRPr sz="2000"/>
            </a:lvl2pPr>
            <a:lvl3pPr lvl="2"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None/>
              <a:defRPr sz="1800"/>
            </a:lvl3pPr>
            <a:lvl4pPr lvl="3"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920"/>
              <a:buNone/>
              <a:defRPr sz="1600"/>
            </a:lvl4pPr>
            <a:lvl5pPr lvl="4"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92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descr="University at Buffalo, The State University of New York logo" id="30" name="Google Shape;30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5600" y="321146"/>
            <a:ext cx="4800604" cy="3560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32"/>
          <p:cNvSpPr txBox="1"/>
          <p:nvPr>
            <p:ph type="title"/>
          </p:nvPr>
        </p:nvSpPr>
        <p:spPr>
          <a:xfrm>
            <a:off x="566928" y="1499616"/>
            <a:ext cx="6951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32"/>
          <p:cNvSpPr txBox="1"/>
          <p:nvPr>
            <p:ph idx="1" type="body"/>
          </p:nvPr>
        </p:nvSpPr>
        <p:spPr>
          <a:xfrm>
            <a:off x="566928" y="2185416"/>
            <a:ext cx="6951600" cy="396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•"/>
              <a:defRPr/>
            </a:lvl1pPr>
            <a:lvl2pPr indent="-365760" lvl="1" marL="9144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2pPr>
            <a:lvl3pPr indent="-365760" lvl="2" marL="13716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3pPr>
            <a:lvl4pPr indent="-365760" lvl="3" marL="18288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4pPr>
            <a:lvl5pPr indent="-365760" lvl="4" marL="22860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vider Slide 2" showMasterSp="0">
  <p:cSld name="Divider Slide 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3"/>
          <p:cNvSpPr txBox="1"/>
          <p:nvPr>
            <p:ph type="ctrTitle"/>
          </p:nvPr>
        </p:nvSpPr>
        <p:spPr>
          <a:xfrm>
            <a:off x="658368" y="1490663"/>
            <a:ext cx="66384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6666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Arial"/>
              <a:buNone/>
              <a:defRPr b="1" i="0" sz="6000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33"/>
          <p:cNvSpPr txBox="1"/>
          <p:nvPr>
            <p:ph idx="1" type="subTitle"/>
          </p:nvPr>
        </p:nvSpPr>
        <p:spPr>
          <a:xfrm>
            <a:off x="658368" y="3970337"/>
            <a:ext cx="6638400" cy="22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3360"/>
              <a:buNone/>
              <a:defRPr b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400"/>
              <a:buNone/>
              <a:defRPr sz="2000"/>
            </a:lvl2pPr>
            <a:lvl3pPr lvl="2"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None/>
              <a:defRPr sz="1800"/>
            </a:lvl3pPr>
            <a:lvl4pPr lvl="3"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920"/>
              <a:buNone/>
              <a:defRPr sz="1600"/>
            </a:lvl4pPr>
            <a:lvl5pPr lvl="4"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92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pic>
        <p:nvPicPr>
          <p:cNvPr descr="University at Buffalo, The State University of New York logo" id="37" name="Google Shape;3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5600" y="321249"/>
            <a:ext cx="4800604" cy="355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and Graph">
  <p:cSld name="Content and Grap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4"/>
          <p:cNvSpPr txBox="1"/>
          <p:nvPr>
            <p:ph type="title"/>
          </p:nvPr>
        </p:nvSpPr>
        <p:spPr>
          <a:xfrm>
            <a:off x="566928" y="1499616"/>
            <a:ext cx="42489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34"/>
          <p:cNvSpPr txBox="1"/>
          <p:nvPr>
            <p:ph idx="1" type="body"/>
          </p:nvPr>
        </p:nvSpPr>
        <p:spPr>
          <a:xfrm>
            <a:off x="566928" y="2185416"/>
            <a:ext cx="4248900" cy="396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•"/>
              <a:defRPr/>
            </a:lvl1pPr>
            <a:lvl2pPr indent="-365760" lvl="1" marL="9144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2pPr>
            <a:lvl3pPr indent="-365760" lvl="2" marL="13716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3pPr>
            <a:lvl4pPr indent="-365760" lvl="3" marL="18288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4pPr>
            <a:lvl5pPr indent="-365760" lvl="4" marL="22860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34"/>
          <p:cNvSpPr/>
          <p:nvPr>
            <p:ph idx="2" type="chart"/>
          </p:nvPr>
        </p:nvSpPr>
        <p:spPr>
          <a:xfrm>
            <a:off x="5161935" y="1976285"/>
            <a:ext cx="6325200" cy="39672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160"/>
              <a:buFont typeface="NTR"/>
              <a:buChar char="-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160"/>
              <a:buFont typeface="NTR"/>
              <a:buChar char="-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160"/>
              <a:buFont typeface="NTR"/>
              <a:buChar char="-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160"/>
              <a:buFont typeface="NTR"/>
              <a:buChar char="-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Double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5"/>
          <p:cNvSpPr txBox="1"/>
          <p:nvPr>
            <p:ph type="title"/>
          </p:nvPr>
        </p:nvSpPr>
        <p:spPr>
          <a:xfrm>
            <a:off x="566928" y="1499616"/>
            <a:ext cx="10515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35"/>
          <p:cNvSpPr txBox="1"/>
          <p:nvPr>
            <p:ph idx="1" type="body"/>
          </p:nvPr>
        </p:nvSpPr>
        <p:spPr>
          <a:xfrm>
            <a:off x="566928" y="2185416"/>
            <a:ext cx="4500300" cy="394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•"/>
              <a:defRPr/>
            </a:lvl1pPr>
            <a:lvl2pPr indent="-365760" lvl="1" marL="9144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2pPr>
            <a:lvl3pPr indent="-365760" lvl="2" marL="13716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3pPr>
            <a:lvl4pPr indent="-365760" lvl="3" marL="18288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4pPr>
            <a:lvl5pPr indent="-365760" lvl="4" marL="22860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35"/>
          <p:cNvSpPr txBox="1"/>
          <p:nvPr>
            <p:ph idx="2" type="body"/>
          </p:nvPr>
        </p:nvSpPr>
        <p:spPr>
          <a:xfrm>
            <a:off x="5410200" y="2185416"/>
            <a:ext cx="4498800" cy="39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•"/>
              <a:defRPr/>
            </a:lvl1pPr>
            <a:lvl2pPr indent="-365760" lvl="1" marL="9144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2pPr>
            <a:lvl3pPr indent="-365760" lvl="2" marL="13716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3pPr>
            <a:lvl4pPr indent="-365760" lvl="3" marL="18288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4pPr>
            <a:lvl5pPr indent="-365760" lvl="4" marL="22860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and Photo">
  <p:cSld name="Content and Photo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6"/>
          <p:cNvSpPr/>
          <p:nvPr>
            <p:ph idx="2" type="pic"/>
          </p:nvPr>
        </p:nvSpPr>
        <p:spPr>
          <a:xfrm>
            <a:off x="5098566" y="1079500"/>
            <a:ext cx="7093500" cy="57786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48" name="Google Shape;48;p36"/>
          <p:cNvSpPr txBox="1"/>
          <p:nvPr>
            <p:ph type="title"/>
          </p:nvPr>
        </p:nvSpPr>
        <p:spPr>
          <a:xfrm>
            <a:off x="566928" y="1499616"/>
            <a:ext cx="42489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36"/>
          <p:cNvSpPr txBox="1"/>
          <p:nvPr>
            <p:ph idx="1" type="body"/>
          </p:nvPr>
        </p:nvSpPr>
        <p:spPr>
          <a:xfrm>
            <a:off x="566928" y="2185416"/>
            <a:ext cx="4248900" cy="396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•"/>
              <a:defRPr/>
            </a:lvl1pPr>
            <a:lvl2pPr indent="-365760" lvl="1" marL="9144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2pPr>
            <a:lvl3pPr indent="-365760" lvl="2" marL="13716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3pPr>
            <a:lvl4pPr indent="-365760" lvl="3" marL="18288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4pPr>
            <a:lvl5pPr indent="-365760" lvl="4" marL="22860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and Three Photos">
  <p:cSld name="Content and Three Photo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7"/>
          <p:cNvSpPr txBox="1"/>
          <p:nvPr>
            <p:ph type="title"/>
          </p:nvPr>
        </p:nvSpPr>
        <p:spPr>
          <a:xfrm>
            <a:off x="566928" y="1499616"/>
            <a:ext cx="42489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37"/>
          <p:cNvSpPr txBox="1"/>
          <p:nvPr>
            <p:ph idx="1" type="body"/>
          </p:nvPr>
        </p:nvSpPr>
        <p:spPr>
          <a:xfrm>
            <a:off x="566928" y="2185416"/>
            <a:ext cx="4248900" cy="396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•"/>
              <a:defRPr/>
            </a:lvl1pPr>
            <a:lvl2pPr indent="-365760" lvl="1" marL="9144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2pPr>
            <a:lvl3pPr indent="-365760" lvl="2" marL="13716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3pPr>
            <a:lvl4pPr indent="-365760" lvl="3" marL="18288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4pPr>
            <a:lvl5pPr indent="-365760" lvl="4" marL="22860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" name="Google Shape;53;p37"/>
          <p:cNvSpPr/>
          <p:nvPr>
            <p:ph idx="2" type="pic"/>
          </p:nvPr>
        </p:nvSpPr>
        <p:spPr>
          <a:xfrm>
            <a:off x="5114631" y="1066800"/>
            <a:ext cx="7077300" cy="2932500"/>
          </a:xfrm>
          <a:prstGeom prst="rect">
            <a:avLst/>
          </a:prstGeom>
          <a:solidFill>
            <a:srgbClr val="BFBFBF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p37"/>
          <p:cNvSpPr/>
          <p:nvPr>
            <p:ph idx="3" type="pic"/>
          </p:nvPr>
        </p:nvSpPr>
        <p:spPr>
          <a:xfrm>
            <a:off x="5114631" y="3998296"/>
            <a:ext cx="3602400" cy="2857500"/>
          </a:xfrm>
          <a:prstGeom prst="rect">
            <a:avLst/>
          </a:prstGeom>
          <a:solidFill>
            <a:srgbClr val="BFBFBF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p37"/>
          <p:cNvSpPr/>
          <p:nvPr>
            <p:ph idx="4" type="pic"/>
          </p:nvPr>
        </p:nvSpPr>
        <p:spPr>
          <a:xfrm>
            <a:off x="8701089" y="3998296"/>
            <a:ext cx="3490800" cy="2857500"/>
          </a:xfrm>
          <a:prstGeom prst="rect">
            <a:avLst/>
          </a:prstGeom>
          <a:solidFill>
            <a:srgbClr val="BFBFBF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ll Width Photo">
  <p:cSld name="Full Width Photo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38"/>
          <p:cNvSpPr txBox="1"/>
          <p:nvPr>
            <p:ph type="title"/>
          </p:nvPr>
        </p:nvSpPr>
        <p:spPr>
          <a:xfrm>
            <a:off x="566928" y="1499616"/>
            <a:ext cx="10515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38"/>
          <p:cNvSpPr/>
          <p:nvPr>
            <p:ph idx="2" type="pic"/>
          </p:nvPr>
        </p:nvSpPr>
        <p:spPr>
          <a:xfrm>
            <a:off x="0" y="1066800"/>
            <a:ext cx="12192000" cy="579120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 showMasterSp="0">
  <p:cSld name="Title Slide 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9"/>
          <p:cNvSpPr txBox="1"/>
          <p:nvPr>
            <p:ph idx="1" type="body"/>
          </p:nvPr>
        </p:nvSpPr>
        <p:spPr>
          <a:xfrm>
            <a:off x="658368" y="3968496"/>
            <a:ext cx="6638400" cy="165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indent="-228600" lvl="0" marL="4572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3360"/>
              <a:buNone/>
              <a:defRPr b="0" i="0"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65760" lvl="1" marL="9144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2pPr>
            <a:lvl3pPr indent="-365760" lvl="2" marL="13716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3pPr>
            <a:lvl4pPr indent="-365760" lvl="3" marL="18288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4pPr>
            <a:lvl5pPr indent="-365760" lvl="4" marL="22860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" name="Google Shape;61;p39"/>
          <p:cNvSpPr txBox="1"/>
          <p:nvPr>
            <p:ph type="ctrTitle"/>
          </p:nvPr>
        </p:nvSpPr>
        <p:spPr>
          <a:xfrm>
            <a:off x="658368" y="1490472"/>
            <a:ext cx="6638400" cy="2386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>
            <a:lvl1pPr lvl="0" algn="l">
              <a:lnSpc>
                <a:spcPct val="96666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b="1" i="0" sz="6000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University at Buffalo, The State University of New York logo" id="62" name="Google Shape;6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0402" y="6041329"/>
            <a:ext cx="4800596" cy="355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40"/>
          <p:cNvSpPr txBox="1"/>
          <p:nvPr>
            <p:ph type="title"/>
          </p:nvPr>
        </p:nvSpPr>
        <p:spPr>
          <a:xfrm>
            <a:off x="566928" y="1499616"/>
            <a:ext cx="10515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9.xml"/><Relationship Id="rId10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0.xml"/><Relationship Id="rId1" Type="http://schemas.openxmlformats.org/officeDocument/2006/relationships/image" Target="../media/image1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9" Type="http://schemas.openxmlformats.org/officeDocument/2006/relationships/slideLayout" Target="../slideLayouts/slideLayout7.xml"/><Relationship Id="rId15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1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7"/>
          <p:cNvSpPr txBox="1"/>
          <p:nvPr>
            <p:ph type="title"/>
          </p:nvPr>
        </p:nvSpPr>
        <p:spPr>
          <a:xfrm>
            <a:off x="566928" y="1499616"/>
            <a:ext cx="10515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  <a:defRPr b="0" i="0" sz="3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7"/>
          <p:cNvSpPr txBox="1"/>
          <p:nvPr>
            <p:ph idx="1" type="body"/>
          </p:nvPr>
        </p:nvSpPr>
        <p:spPr>
          <a:xfrm>
            <a:off x="566928" y="2185416"/>
            <a:ext cx="10515600" cy="396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65760" lvl="0" marL="457200" marR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16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65760" lvl="1" marL="914400" marR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160"/>
              <a:buFont typeface="NTR"/>
              <a:buChar char="-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65760" lvl="2" marL="1371600" marR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160"/>
              <a:buFont typeface="NTR"/>
              <a:buChar char="-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65760" lvl="3" marL="1828800" marR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160"/>
              <a:buFont typeface="NTR"/>
              <a:buChar char="-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65760" lvl="4" marL="2286000" marR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160"/>
              <a:buFont typeface="NTR"/>
              <a:buChar char="-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University at Buffalo, The State University of New York logo" id="12" name="Google Shape;12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600" y="321249"/>
            <a:ext cx="4800604" cy="355823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7"/>
          <p:cNvSpPr txBox="1"/>
          <p:nvPr/>
        </p:nvSpPr>
        <p:spPr>
          <a:xfrm>
            <a:off x="6938176" y="6319774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1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comments" Target="../comments/comment1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comments" Target="../comments/comment2.xml"/><Relationship Id="rId4" Type="http://schemas.openxmlformats.org/officeDocument/2006/relationships/image" Target="../media/image1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comments" Target="../comments/comment3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4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jp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Relationship Id="rId4" Type="http://schemas.openxmlformats.org/officeDocument/2006/relationships/image" Target="../media/image2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comments" Target="../comments/comment4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"/>
          <p:cNvSpPr txBox="1"/>
          <p:nvPr/>
        </p:nvSpPr>
        <p:spPr>
          <a:xfrm>
            <a:off x="658375" y="5611925"/>
            <a:ext cx="50916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</a:endParaRPr>
          </a:p>
        </p:txBody>
      </p:sp>
      <p:sp>
        <p:nvSpPr>
          <p:cNvPr id="71" name="Google Shape;71;p1"/>
          <p:cNvSpPr txBox="1"/>
          <p:nvPr>
            <p:ph idx="1" type="subTitle"/>
          </p:nvPr>
        </p:nvSpPr>
        <p:spPr>
          <a:xfrm>
            <a:off x="658368" y="3970337"/>
            <a:ext cx="6638400" cy="22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360"/>
              <a:buNone/>
            </a:pPr>
            <a:r>
              <a:rPr lang="en-US"/>
              <a:t>A look into quantifiable, energy focused  profiling and refactoring.</a:t>
            </a:r>
            <a:endParaRPr/>
          </a:p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36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200"/>
              <a:t>Jake Nathanson, Cristian Rivera, Ahmed Bouhraoua, Layne Xia, Asif Imran </a:t>
            </a:r>
            <a:endParaRPr i="1" sz="2200"/>
          </a:p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360"/>
              <a:buNone/>
            </a:pPr>
            <a:r>
              <a:t/>
            </a:r>
            <a:endParaRPr/>
          </a:p>
        </p:txBody>
      </p:sp>
      <p:sp>
        <p:nvSpPr>
          <p:cNvPr id="72" name="Google Shape;72;p1"/>
          <p:cNvSpPr txBox="1"/>
          <p:nvPr>
            <p:ph type="ctrTitle"/>
          </p:nvPr>
        </p:nvSpPr>
        <p:spPr>
          <a:xfrm>
            <a:off x="658368" y="1490663"/>
            <a:ext cx="66384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6666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Arial"/>
              <a:buNone/>
            </a:pPr>
            <a:r>
              <a:rPr lang="en-US"/>
              <a:t>AI ENERGY OPTIMIZATION -- GREENAI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"/>
          <p:cNvSpPr txBox="1"/>
          <p:nvPr>
            <p:ph type="title"/>
          </p:nvPr>
        </p:nvSpPr>
        <p:spPr>
          <a:xfrm>
            <a:off x="566928" y="1499616"/>
            <a:ext cx="6951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/>
              <a:t>Presentation Overview</a:t>
            </a:r>
            <a:endParaRPr/>
          </a:p>
        </p:txBody>
      </p:sp>
      <p:sp>
        <p:nvSpPr>
          <p:cNvPr id="78" name="Google Shape;78;p2"/>
          <p:cNvSpPr txBox="1"/>
          <p:nvPr>
            <p:ph idx="1" type="body"/>
          </p:nvPr>
        </p:nvSpPr>
        <p:spPr>
          <a:xfrm>
            <a:off x="566926" y="2185425"/>
            <a:ext cx="4368900" cy="39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65760" lvl="0" marL="4572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AutoNum type="arabicPeriod"/>
            </a:pPr>
            <a:r>
              <a:rPr lang="en-US"/>
              <a:t>Purpose and Motivation</a:t>
            </a:r>
            <a:endParaRPr/>
          </a:p>
          <a:p>
            <a:pPr indent="-36576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160"/>
              <a:buAutoNum type="arabicPeriod"/>
            </a:pPr>
            <a:r>
              <a:rPr lang="en-US"/>
              <a:t>Scalene Profiler</a:t>
            </a:r>
            <a:endParaRPr/>
          </a:p>
          <a:p>
            <a:pPr indent="-36576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160"/>
              <a:buAutoNum type="arabicPeriod"/>
            </a:pPr>
            <a:r>
              <a:rPr lang="en-US"/>
              <a:t>LibCST Refactoring </a:t>
            </a:r>
            <a:endParaRPr/>
          </a:p>
          <a:p>
            <a:pPr indent="-36576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160"/>
              <a:buAutoNum type="arabicPeriod"/>
            </a:pPr>
            <a:r>
              <a:rPr lang="en-US"/>
              <a:t>Profiling Methodology</a:t>
            </a:r>
            <a:endParaRPr/>
          </a:p>
          <a:p>
            <a:pPr indent="-36576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160"/>
              <a:buAutoNum type="arabicPeriod"/>
            </a:pPr>
            <a:r>
              <a:rPr lang="en-US"/>
              <a:t>ML Integration</a:t>
            </a:r>
            <a:endParaRPr/>
          </a:p>
          <a:p>
            <a:pPr indent="-36576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160"/>
              <a:buAutoNum type="arabicPeriod"/>
            </a:pPr>
            <a:r>
              <a:rPr lang="en-US"/>
              <a:t>Timeline &amp; Future Work</a:t>
            </a:r>
            <a:endParaRPr/>
          </a:p>
          <a:p>
            <a:pPr indent="-36576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160"/>
              <a:buAutoNum type="arabicPeriod"/>
            </a:pPr>
            <a:r>
              <a:rPr lang="en-US"/>
              <a:t>Call to Action &amp; Q&amp;A</a:t>
            </a:r>
            <a:endParaRPr/>
          </a:p>
          <a:p>
            <a:pPr indent="0" lvl="0" marL="4572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9144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None/>
            </a:pPr>
            <a:r>
              <a:t/>
            </a:r>
            <a:endParaRPr/>
          </a:p>
        </p:txBody>
      </p:sp>
      <p:pic>
        <p:nvPicPr>
          <p:cNvPr id="79" name="Google Shape;79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5600" y="2687050"/>
            <a:ext cx="8117101" cy="1483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4dd5570ebb_5_6"/>
          <p:cNvSpPr txBox="1"/>
          <p:nvPr>
            <p:ph type="title"/>
          </p:nvPr>
        </p:nvSpPr>
        <p:spPr>
          <a:xfrm>
            <a:off x="566928" y="1499616"/>
            <a:ext cx="6951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/>
              <a:t>Our purpose</a:t>
            </a:r>
            <a:endParaRPr/>
          </a:p>
        </p:txBody>
      </p:sp>
      <p:sp>
        <p:nvSpPr>
          <p:cNvPr id="85" name="Google Shape;85;g34dd5570ebb_5_6"/>
          <p:cNvSpPr txBox="1"/>
          <p:nvPr>
            <p:ph idx="1" type="body"/>
          </p:nvPr>
        </p:nvSpPr>
        <p:spPr>
          <a:xfrm>
            <a:off x="566926" y="2185425"/>
            <a:ext cx="4368900" cy="39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•"/>
            </a:pPr>
            <a:r>
              <a:rPr lang="en-US"/>
              <a:t>We want to measure and visualize energy use at the method level in AI programs.</a:t>
            </a:r>
            <a:endParaRPr/>
          </a:p>
          <a:p>
            <a:pPr indent="-228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•"/>
            </a:pPr>
            <a:r>
              <a:rPr lang="en-US"/>
              <a:t>Our goal is to build a highly granular tool to help developers optimize the sustainability of AI workloads.</a:t>
            </a:r>
            <a:endParaRPr/>
          </a:p>
          <a:p>
            <a:pPr indent="0" lvl="0" marL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None/>
            </a:pPr>
            <a:r>
              <a:t/>
            </a:r>
            <a:endParaRPr/>
          </a:p>
          <a:p>
            <a:pPr indent="-9144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None/>
            </a:pPr>
            <a:r>
              <a:t/>
            </a:r>
            <a:endParaRPr/>
          </a:p>
        </p:txBody>
      </p:sp>
      <p:pic>
        <p:nvPicPr>
          <p:cNvPr id="86" name="Google Shape;86;g34dd5570ebb_5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35826" y="2056640"/>
            <a:ext cx="6951475" cy="42259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3"/>
          <p:cNvSpPr txBox="1"/>
          <p:nvPr>
            <p:ph idx="2" type="body"/>
          </p:nvPr>
        </p:nvSpPr>
        <p:spPr>
          <a:xfrm>
            <a:off x="680303" y="3401015"/>
            <a:ext cx="5140500" cy="353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SzPts val="2160"/>
              <a:buNone/>
            </a:pPr>
            <a:r>
              <a:rPr lang="en-US"/>
              <a:t>Scalene is a high-performance profiler designed specifically for Python.</a:t>
            </a:r>
            <a:endParaRPr/>
          </a:p>
          <a:p>
            <a:pPr indent="-365760" lvl="0" marL="457200" rtl="0" algn="l">
              <a:spcBef>
                <a:spcPts val="600"/>
              </a:spcBef>
              <a:spcAft>
                <a:spcPts val="0"/>
              </a:spcAft>
              <a:buSzPts val="2160"/>
              <a:buChar char="•"/>
            </a:pPr>
            <a:r>
              <a:rPr lang="en-US"/>
              <a:t>Line by line profiling </a:t>
            </a:r>
            <a:endParaRPr/>
          </a:p>
          <a:p>
            <a:pPr indent="-365760" lvl="0" marL="457200" rtl="0" algn="l">
              <a:spcBef>
                <a:spcPts val="0"/>
              </a:spcBef>
              <a:spcAft>
                <a:spcPts val="0"/>
              </a:spcAft>
              <a:buSzPts val="2160"/>
              <a:buChar char="•"/>
            </a:pPr>
            <a:r>
              <a:rPr lang="en-US"/>
              <a:t>Profiling is almost all inclusive</a:t>
            </a:r>
            <a:endParaRPr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SzPts val="2160"/>
              <a:buNone/>
            </a:pPr>
            <a:r>
              <a:t/>
            </a:r>
            <a:endParaRPr/>
          </a:p>
        </p:txBody>
      </p:sp>
      <p:sp>
        <p:nvSpPr>
          <p:cNvPr id="92" name="Google Shape;92;p3"/>
          <p:cNvSpPr txBox="1"/>
          <p:nvPr>
            <p:ph type="title"/>
          </p:nvPr>
        </p:nvSpPr>
        <p:spPr>
          <a:xfrm>
            <a:off x="566928" y="1499616"/>
            <a:ext cx="10515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/>
              <a:t>Our Toolchain</a:t>
            </a:r>
            <a:endParaRPr/>
          </a:p>
        </p:txBody>
      </p:sp>
      <p:sp>
        <p:nvSpPr>
          <p:cNvPr id="93" name="Google Shape;93;p3"/>
          <p:cNvSpPr txBox="1"/>
          <p:nvPr>
            <p:ph idx="1" type="body"/>
          </p:nvPr>
        </p:nvSpPr>
        <p:spPr>
          <a:xfrm>
            <a:off x="567690" y="2185416"/>
            <a:ext cx="5139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920"/>
              <a:buNone/>
            </a:pPr>
            <a:r>
              <a:rPr lang="en-US"/>
              <a:t>SCALENE</a:t>
            </a:r>
            <a:endParaRPr/>
          </a:p>
        </p:txBody>
      </p:sp>
      <p:sp>
        <p:nvSpPr>
          <p:cNvPr id="94" name="Google Shape;94;p3"/>
          <p:cNvSpPr txBox="1"/>
          <p:nvPr>
            <p:ph idx="3" type="body"/>
          </p:nvPr>
        </p:nvSpPr>
        <p:spPr>
          <a:xfrm>
            <a:off x="6172200" y="2185416"/>
            <a:ext cx="5139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920"/>
              <a:buNone/>
            </a:pPr>
            <a:r>
              <a:rPr lang="en-US"/>
              <a:t>LIBCST</a:t>
            </a:r>
            <a:endParaRPr/>
          </a:p>
        </p:txBody>
      </p:sp>
      <p:pic>
        <p:nvPicPr>
          <p:cNvPr id="95" name="Google Shape;95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91979" y="2233825"/>
            <a:ext cx="2517147" cy="1023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56000" y="2380850"/>
            <a:ext cx="3042386" cy="8769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3"/>
          <p:cNvSpPr txBox="1"/>
          <p:nvPr/>
        </p:nvSpPr>
        <p:spPr>
          <a:xfrm>
            <a:off x="6720575" y="3401025"/>
            <a:ext cx="5556300" cy="273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5760" lvl="0" marL="45720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160"/>
              <a:buChar char="•"/>
            </a:pPr>
            <a:r>
              <a:rPr lang="en-US" sz="1800">
                <a:solidFill>
                  <a:schemeClr val="dk1"/>
                </a:solidFill>
              </a:rPr>
              <a:t>Parser fully preserves structure</a:t>
            </a:r>
            <a:endParaRPr sz="1800">
              <a:solidFill>
                <a:schemeClr val="dk1"/>
              </a:solidFill>
            </a:endParaRPr>
          </a:p>
          <a:p>
            <a:pPr indent="-365760" lvl="0" marL="4572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60"/>
              <a:buChar char="•"/>
            </a:pPr>
            <a:r>
              <a:rPr lang="en-US" sz="1800">
                <a:solidFill>
                  <a:schemeClr val="dk1"/>
                </a:solidFill>
              </a:rPr>
              <a:t>Parsing code into a Concrete Syntax Tree (CST)</a:t>
            </a:r>
            <a:endParaRPr sz="1800">
              <a:solidFill>
                <a:schemeClr val="dk1"/>
              </a:solidFill>
            </a:endParaRPr>
          </a:p>
          <a:p>
            <a:pPr indent="-342900" lvl="0" marL="45720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</a:pPr>
            <a:r>
              <a:rPr lang="en-US" sz="1800">
                <a:solidFill>
                  <a:schemeClr val="dk1"/>
                </a:solidFill>
              </a:rPr>
              <a:t>Use Visitor and Transformer Patterns to refactoring code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"/>
          <p:cNvSpPr txBox="1"/>
          <p:nvPr>
            <p:ph type="ctrTitle"/>
          </p:nvPr>
        </p:nvSpPr>
        <p:spPr>
          <a:xfrm>
            <a:off x="658368" y="1490663"/>
            <a:ext cx="6638544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6666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</a:pPr>
            <a:r>
              <a:rPr lang="en-US"/>
              <a:t>SCALENE –       OUR PROFILER</a:t>
            </a:r>
            <a:endParaRPr/>
          </a:p>
        </p:txBody>
      </p:sp>
      <p:sp>
        <p:nvSpPr>
          <p:cNvPr id="103" name="Google Shape;103;p4"/>
          <p:cNvSpPr txBox="1"/>
          <p:nvPr>
            <p:ph idx="1" type="subTitle"/>
          </p:nvPr>
        </p:nvSpPr>
        <p:spPr>
          <a:xfrm>
            <a:off x="658368" y="3970337"/>
            <a:ext cx="6638544" cy="22129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360"/>
              <a:buNone/>
            </a:pPr>
            <a:r>
              <a:rPr lang="en-US"/>
              <a:t> </a:t>
            </a:r>
            <a:endParaRPr/>
          </a:p>
          <a:p>
            <a:pPr indent="0" lvl="0" marL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336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5"/>
          <p:cNvSpPr txBox="1"/>
          <p:nvPr>
            <p:ph type="title"/>
          </p:nvPr>
        </p:nvSpPr>
        <p:spPr>
          <a:xfrm>
            <a:off x="566928" y="1384341"/>
            <a:ext cx="6951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/>
              <a:t>What is Scalene?</a:t>
            </a:r>
            <a:endParaRPr/>
          </a:p>
        </p:txBody>
      </p:sp>
      <p:sp>
        <p:nvSpPr>
          <p:cNvPr id="109" name="Google Shape;109;p5"/>
          <p:cNvSpPr txBox="1"/>
          <p:nvPr>
            <p:ph idx="1" type="body"/>
          </p:nvPr>
        </p:nvSpPr>
        <p:spPr>
          <a:xfrm>
            <a:off x="646925" y="2049000"/>
            <a:ext cx="5358600" cy="25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Fast, robust and accurate Python profiling tool (with &lt;10% margin of error).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Provides developers with actionable data to optimize Python programs.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Minimal Overhead (20-30% slowdown).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</a:endParaRPr>
          </a:p>
        </p:txBody>
      </p:sp>
      <p:pic>
        <p:nvPicPr>
          <p:cNvPr id="110" name="Google Shape;110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5525" y="1444875"/>
            <a:ext cx="5291001" cy="422515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5"/>
          <p:cNvSpPr txBox="1"/>
          <p:nvPr/>
        </p:nvSpPr>
        <p:spPr>
          <a:xfrm>
            <a:off x="6890750" y="5670025"/>
            <a:ext cx="3933300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Scalene VS other Python Profilers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5"/>
          <p:cNvSpPr txBox="1"/>
          <p:nvPr>
            <p:ph type="title"/>
          </p:nvPr>
        </p:nvSpPr>
        <p:spPr>
          <a:xfrm>
            <a:off x="566928" y="1528416"/>
            <a:ext cx="6951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/>
              <a:t>Why Scalene?</a:t>
            </a:r>
            <a:endParaRPr/>
          </a:p>
        </p:txBody>
      </p:sp>
      <p:sp>
        <p:nvSpPr>
          <p:cNvPr id="117" name="Google Shape;117;p15"/>
          <p:cNvSpPr txBox="1"/>
          <p:nvPr>
            <p:ph idx="1" type="body"/>
          </p:nvPr>
        </p:nvSpPr>
        <p:spPr>
          <a:xfrm>
            <a:off x="690150" y="2380350"/>
            <a:ext cx="5358600" cy="25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65760" lvl="0" marL="457200" rtl="0" algn="l">
              <a:spcBef>
                <a:spcPts val="0"/>
              </a:spcBef>
              <a:spcAft>
                <a:spcPts val="0"/>
              </a:spcAft>
              <a:buSzPts val="2160"/>
              <a:buChar char="●"/>
            </a:pPr>
            <a:r>
              <a:rPr lang="en-US"/>
              <a:t>Most Python Profilers struggle to separate noise and utilization from library/module method calls written in other languages.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65760" lvl="0" marL="457200" rtl="0" algn="l">
              <a:spcBef>
                <a:spcPts val="0"/>
              </a:spcBef>
              <a:spcAft>
                <a:spcPts val="0"/>
              </a:spcAft>
              <a:buSzPts val="2160"/>
              <a:buChar char="●"/>
            </a:pPr>
            <a:r>
              <a:rPr lang="en-US"/>
              <a:t>It’s important to mention that Scalene filters out redundant background noise from external processes and profiles utilization from native C code in external libraries.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"/>
          <p:cNvSpPr txBox="1"/>
          <p:nvPr>
            <p:ph type="title"/>
          </p:nvPr>
        </p:nvSpPr>
        <p:spPr>
          <a:xfrm>
            <a:off x="705975" y="1297900"/>
            <a:ext cx="39459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/>
              <a:t>Modifying Scalene </a:t>
            </a:r>
            <a:endParaRPr/>
          </a:p>
        </p:txBody>
      </p:sp>
      <p:pic>
        <p:nvPicPr>
          <p:cNvPr id="123" name="Google Shape;123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05519" y="2124075"/>
            <a:ext cx="4339875" cy="2564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6" title="37dee687-e4d0-4d69-803c-b3e8ce6a95fb-Photoro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3">
            <a:off x="12291724" y="1079064"/>
            <a:ext cx="3173714" cy="2218097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6"/>
          <p:cNvSpPr txBox="1"/>
          <p:nvPr>
            <p:ph idx="1" type="body"/>
          </p:nvPr>
        </p:nvSpPr>
        <p:spPr>
          <a:xfrm>
            <a:off x="705975" y="1660000"/>
            <a:ext cx="5358600" cy="25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CPU and GPU joule consumption through power estimation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Multi-GPU Computing support</a:t>
            </a:r>
            <a:endParaRPr/>
          </a:p>
          <a:p>
            <a:pPr indent="-342900" lvl="0" marL="457200" rtl="0" algn="l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Individual GPU Utilization and consumption metrics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7"/>
          <p:cNvSpPr txBox="1"/>
          <p:nvPr>
            <p:ph type="title"/>
          </p:nvPr>
        </p:nvSpPr>
        <p:spPr>
          <a:xfrm>
            <a:off x="413875" y="1058450"/>
            <a:ext cx="97521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/>
              <a:t>Profiling at the Method Level (and line by line)</a:t>
            </a:r>
            <a:endParaRPr/>
          </a:p>
        </p:txBody>
      </p:sp>
      <p:pic>
        <p:nvPicPr>
          <p:cNvPr id="131" name="Google Shape;131;p7"/>
          <p:cNvPicPr preferRelativeResize="0"/>
          <p:nvPr/>
        </p:nvPicPr>
        <p:blipFill rotWithShape="1">
          <a:blip r:embed="rId4">
            <a:alphaModFix/>
          </a:blip>
          <a:srcRect b="42584" l="1883" r="42059" t="9740"/>
          <a:stretch/>
        </p:blipFill>
        <p:spPr>
          <a:xfrm>
            <a:off x="4457075" y="1832625"/>
            <a:ext cx="6821301" cy="4362301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7"/>
          <p:cNvSpPr txBox="1"/>
          <p:nvPr/>
        </p:nvSpPr>
        <p:spPr>
          <a:xfrm>
            <a:off x="5154250" y="6194925"/>
            <a:ext cx="60222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Example JSON output of Scalene (obtainable data)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33" name="Google Shape;133;p7"/>
          <p:cNvSpPr txBox="1"/>
          <p:nvPr/>
        </p:nvSpPr>
        <p:spPr>
          <a:xfrm>
            <a:off x="413875" y="3427125"/>
            <a:ext cx="3927900" cy="13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Additions: Time per line, Avg Power Limit, GPU joule usage, CPU joule usage, and Total joule usage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2"/>
          <p:cNvSpPr txBox="1"/>
          <p:nvPr>
            <p:ph type="ctrTitle"/>
          </p:nvPr>
        </p:nvSpPr>
        <p:spPr>
          <a:xfrm>
            <a:off x="658377" y="706081"/>
            <a:ext cx="8859900" cy="3602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6666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Arial"/>
              <a:buNone/>
            </a:pPr>
            <a:r>
              <a:rPr lang="en-US"/>
              <a:t>THERMAL DESIGN POWER FETCHING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3"/>
          <p:cNvSpPr txBox="1"/>
          <p:nvPr>
            <p:ph type="title"/>
          </p:nvPr>
        </p:nvSpPr>
        <p:spPr>
          <a:xfrm>
            <a:off x="566928" y="1211466"/>
            <a:ext cx="6951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/>
              <a:t>TDP -- An Overview</a:t>
            </a:r>
            <a:endParaRPr/>
          </a:p>
        </p:txBody>
      </p:sp>
      <p:sp>
        <p:nvSpPr>
          <p:cNvPr id="144" name="Google Shape;144;p13"/>
          <p:cNvSpPr txBox="1"/>
          <p:nvPr>
            <p:ph idx="1" type="body"/>
          </p:nvPr>
        </p:nvSpPr>
        <p:spPr>
          <a:xfrm>
            <a:off x="566925" y="2185425"/>
            <a:ext cx="6747900" cy="39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4572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TDP = “thermal design power” – vendor’s steady‑load watt target for cooling, not a live power reading</a:t>
            </a:r>
            <a:endParaRPr/>
          </a:p>
          <a:p>
            <a:pPr indent="0" lvl="0" marL="4572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Why we use it → universal, no extra drivers; multiply Scalene CPU‑time × ((TDP – idle) × CPU Utilization) to get joules — a reasonably quantifiable estimate (similar methodology for GPU)</a:t>
            </a:r>
            <a:endParaRPr/>
          </a:p>
          <a:p>
            <a:pPr indent="0" lvl="0" marL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US"/>
              <a:t>Accuracy → ± 15% vs. hardware meters — good enough for finding significant power draws</a:t>
            </a:r>
            <a:endParaRPr/>
          </a:p>
        </p:txBody>
      </p:sp>
      <p:pic>
        <p:nvPicPr>
          <p:cNvPr id="145" name="Google Shape;145;p13" title="ChatGPT Image Apr 18, 2025, 03_34_42 PM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00875" y="1353100"/>
            <a:ext cx="4646625" cy="4646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4"/>
          <p:cNvSpPr txBox="1"/>
          <p:nvPr>
            <p:ph type="title"/>
          </p:nvPr>
        </p:nvSpPr>
        <p:spPr>
          <a:xfrm>
            <a:off x="566928" y="1499616"/>
            <a:ext cx="6951600" cy="1089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/>
              <a:t>CPU</a:t>
            </a:r>
            <a:r>
              <a:rPr lang="en-US"/>
              <a:t> TDP Fetch Methodology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51" name="Google Shape;151;p14"/>
          <p:cNvSpPr txBox="1"/>
          <p:nvPr>
            <p:ph idx="1" type="body"/>
          </p:nvPr>
        </p:nvSpPr>
        <p:spPr>
          <a:xfrm>
            <a:off x="337150" y="2483150"/>
            <a:ext cx="5350800" cy="381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5560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Detect CPU info and send to a backend server</a:t>
            </a:r>
            <a:endParaRPr sz="2000"/>
          </a:p>
          <a:p>
            <a:pPr indent="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  <a:p>
            <a:pPr indent="-35560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-US" sz="2000"/>
              <a:t>Backend server with a database that is updated with CPU TDP from the web</a:t>
            </a:r>
            <a:endParaRPr sz="2000"/>
          </a:p>
        </p:txBody>
      </p:sp>
      <p:pic>
        <p:nvPicPr>
          <p:cNvPr id="152" name="Google Shape;152;p14" title="noopena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5475" y="2874400"/>
            <a:ext cx="6783749" cy="1885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522ca145ae_0_4"/>
          <p:cNvSpPr txBox="1"/>
          <p:nvPr>
            <p:ph type="title"/>
          </p:nvPr>
        </p:nvSpPr>
        <p:spPr>
          <a:xfrm>
            <a:off x="566928" y="1499616"/>
            <a:ext cx="6951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/>
              <a:t>GPU TDP Fetch Methodology</a:t>
            </a:r>
            <a:endParaRPr/>
          </a:p>
        </p:txBody>
      </p:sp>
      <p:sp>
        <p:nvSpPr>
          <p:cNvPr id="158" name="Google Shape;158;g3522ca145ae_0_4"/>
          <p:cNvSpPr txBox="1"/>
          <p:nvPr>
            <p:ph idx="1" type="body"/>
          </p:nvPr>
        </p:nvSpPr>
        <p:spPr>
          <a:xfrm>
            <a:off x="566925" y="2309500"/>
            <a:ext cx="5980500" cy="3968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925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900"/>
              <a:buChar char="•"/>
            </a:pPr>
            <a:r>
              <a:rPr lang="en-US" sz="1900"/>
              <a:t>GPU power draw is dynamic and changing</a:t>
            </a:r>
            <a:endParaRPr sz="1900"/>
          </a:p>
          <a:p>
            <a:pPr indent="0" lvl="0" marL="9144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  <a:p>
            <a:pPr indent="-349250" lvl="1" marL="9144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900"/>
              <a:buChar char="-"/>
            </a:pPr>
            <a:r>
              <a:rPr lang="en-US" sz="1900"/>
              <a:t>Solution: Collect samples of local enforced power limits and utilize an average in our computations.</a:t>
            </a:r>
            <a:endParaRPr sz="1900"/>
          </a:p>
        </p:txBody>
      </p:sp>
      <p:pic>
        <p:nvPicPr>
          <p:cNvPr id="159" name="Google Shape;159;g3522ca145ae_0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93600" y="1644200"/>
            <a:ext cx="4801199" cy="40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"/>
          <p:cNvSpPr txBox="1"/>
          <p:nvPr>
            <p:ph type="ctrTitle"/>
          </p:nvPr>
        </p:nvSpPr>
        <p:spPr>
          <a:xfrm>
            <a:off x="380325" y="1908525"/>
            <a:ext cx="106041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6666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</a:pPr>
            <a:r>
              <a:rPr lang="en-US"/>
              <a:t>LIBCST - </a:t>
            </a:r>
            <a:endParaRPr/>
          </a:p>
          <a:p>
            <a:pPr indent="0" lvl="0" marL="0" rtl="0" algn="l">
              <a:lnSpc>
                <a:spcPct val="96666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</a:pPr>
            <a:r>
              <a:rPr lang="en-US"/>
              <a:t>OUR </a:t>
            </a:r>
            <a:r>
              <a:rPr lang="en-US">
                <a:extLst>
                  <a:ext uri="http://customooxmlschemas.google.com/">
                    <go:slidesCustomData xmlns:go="http://customooxmlschemas.google.com/" textRoundtripDataId="0"/>
                  </a:ext>
                </a:extLst>
              </a:rPr>
              <a:t>REFACTORING</a:t>
            </a:r>
            <a:r>
              <a:rPr lang="en-US"/>
              <a:t> TOOL</a:t>
            </a:r>
            <a:endParaRPr/>
          </a:p>
        </p:txBody>
      </p:sp>
      <p:sp>
        <p:nvSpPr>
          <p:cNvPr id="165" name="Google Shape;165;p8"/>
          <p:cNvSpPr txBox="1"/>
          <p:nvPr>
            <p:ph idx="1" type="subTitle"/>
          </p:nvPr>
        </p:nvSpPr>
        <p:spPr>
          <a:xfrm>
            <a:off x="576018" y="4227162"/>
            <a:ext cx="6638400" cy="22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360"/>
              <a:buNone/>
            </a:pPr>
            <a:r>
              <a:rPr lang="en-US"/>
              <a:t> </a:t>
            </a:r>
            <a:endParaRPr/>
          </a:p>
          <a:p>
            <a:pPr indent="0" lvl="0" marL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336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9"/>
          <p:cNvSpPr txBox="1"/>
          <p:nvPr>
            <p:ph type="title"/>
          </p:nvPr>
        </p:nvSpPr>
        <p:spPr>
          <a:xfrm>
            <a:off x="566926" y="1285325"/>
            <a:ext cx="54564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/>
              <a:t>What is &amp; Why LibCST?</a:t>
            </a:r>
            <a:endParaRPr/>
          </a:p>
        </p:txBody>
      </p:sp>
      <p:sp>
        <p:nvSpPr>
          <p:cNvPr id="171" name="Google Shape;171;p9"/>
          <p:cNvSpPr txBox="1"/>
          <p:nvPr/>
        </p:nvSpPr>
        <p:spPr>
          <a:xfrm>
            <a:off x="566925" y="2182650"/>
            <a:ext cx="5999700" cy="371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72110" lvl="0" marL="4572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2260"/>
              <a:buChar char="•"/>
            </a:pPr>
            <a:r>
              <a:rPr lang="en-US" sz="1900">
                <a:solidFill>
                  <a:schemeClr val="dk1"/>
                </a:solidFill>
              </a:rPr>
              <a:t>Parsing code into a Concrete Syntax Tree</a:t>
            </a:r>
            <a:endParaRPr sz="1900">
              <a:solidFill>
                <a:schemeClr val="dk1"/>
              </a:solidFill>
            </a:endParaRPr>
          </a:p>
          <a:p>
            <a:pPr indent="-349250" lvl="1" marL="9144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NTR"/>
              <a:buChar char="-"/>
            </a:pPr>
            <a:r>
              <a:rPr lang="en-US" sz="1900">
                <a:solidFill>
                  <a:schemeClr val="dk1"/>
                </a:solidFill>
              </a:rPr>
              <a:t>AST with formatting detail reserved</a:t>
            </a:r>
            <a:endParaRPr sz="19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-349250" lvl="0" marL="45720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dk2"/>
              </a:buClr>
              <a:buSzPts val="1900"/>
              <a:buChar char="•"/>
            </a:pPr>
            <a:r>
              <a:rPr lang="en-US" sz="1900">
                <a:solidFill>
                  <a:schemeClr val="dk1"/>
                </a:solidFill>
              </a:rPr>
              <a:t>Better choice than AST </a:t>
            </a:r>
            <a:endParaRPr sz="1900">
              <a:solidFill>
                <a:schemeClr val="dk1"/>
              </a:solidFill>
            </a:endParaRPr>
          </a:p>
          <a:p>
            <a:pPr indent="-349250" lvl="1" marL="9144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NTR"/>
              <a:buChar char="-"/>
            </a:pPr>
            <a:r>
              <a:rPr lang="en-US" sz="1900">
                <a:solidFill>
                  <a:schemeClr val="dk1"/>
                </a:solidFill>
              </a:rPr>
              <a:t>preserve readability</a:t>
            </a:r>
            <a:endParaRPr sz="1900">
              <a:solidFill>
                <a:schemeClr val="dk1"/>
              </a:solidFill>
            </a:endParaRPr>
          </a:p>
          <a:p>
            <a:pPr indent="-349250" lvl="1" marL="9144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NTR"/>
              <a:buChar char="-"/>
            </a:pPr>
            <a:r>
              <a:rPr lang="en-US" sz="1900">
                <a:solidFill>
                  <a:schemeClr val="dk1"/>
                </a:solidFill>
              </a:rPr>
              <a:t>Modify code without losing</a:t>
            </a:r>
            <a:r>
              <a:rPr i="1" lang="en-US" sz="1300">
                <a:solidFill>
                  <a:srgbClr val="40404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900">
                <a:solidFill>
                  <a:schemeClr val="dk1"/>
                </a:solidFill>
              </a:rPr>
              <a:t>style</a:t>
            </a:r>
            <a:endParaRPr sz="1900">
              <a:solidFill>
                <a:schemeClr val="dk1"/>
              </a:solidFill>
            </a:endParaRPr>
          </a:p>
          <a:p>
            <a:pPr indent="0" lvl="0" marL="91440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descr="digraph libcst {&#10;    layout=dot;&#10;    rankdir=TB;&#10;    splines=line;&#10;    ranksep=0.5;&#10;    nodesep=1.0;&#10;    dpi=300;&#10;    bgcolor=transparent;&#10;    node [&#10;        style=filled,&#10;        color=&quot;#fb8d3f&quot;,&#10;        fontcolor=&quot;#4b4f54&quot;,&#10;        fillcolor=&quot;#fdd2b3&quot;,&#10;        fontname=&quot;Source Code Pro Semibold&quot;,&#10;        penwidth=&quot;2&quot;,&#10;        group=main,&#10;    ];&#10;    edge [&#10;        color=&quot;#999999&quot;,&#10;        fontcolor=&quot;#4b4f54&quot;,&#10;        fontname=&quot;Source Code Pro Semibold&quot;,&#10;        fontsize=12,&#10;        penwidth=2,&#10;    ];&#10;    Module [label=&quot;Module&quot;];&#10;    SimpleStatementLine [label=&quot;SimpleStatementLine&quot;];&#10;    Expr [label=&quot;Expr&quot;];&#10;    Call [label=&quot;Call&quot;];&#10;    Name [label=&quot;Name&quot;];&#10;    NameValue [label=&quot; 'fn' &quot;, color=&quot;#3e99ed&quot;, fillcolor=&quot;#b8d9f8&quot;, shape=box];&#10;    Arg1 [label=&quot;Arg&quot;];&#10;    Integer1 [label=&quot;Integer&quot;];&#10;    Integer1Value [label=&quot; '1' &quot;, color=&quot;#3e99ed&quot;, fillcolor=&quot;#b8d9f8&quot;, shape=box];&#10;    Comma [label=&quot;Comma&quot;];&#10;    SimpleWhitespace2 [label=&quot;SimpleWhitespace&quot;, color=&quot;#777777&quot;, fillcolor=&quot;#eeeeee&quot;];&#10;    SimpleWhitespace2Value [label=&quot; ' ' &quot;, color=&quot;#777777&quot;, fillcolor=&quot;#cccccc&quot;, shape=box];&#10;    Arg2 [label=&quot;Arg&quot;];&#10;    Integer2 [label=&quot;Integer&quot;];&#10;    Integer2Value [label=&quot; '2' &quot;, color=&quot;#3e99ed&quot;, fillcolor=&quot;#b8d9f8&quot;, shape=box];&#10;    TrailingWhitespace [label=&quot;TrailingWhitespace&quot;, color=&quot;#777777&quot;, fillcolor=&quot;#eeeeee&quot;];&#10;    SimpleWhitespace1 [label=&quot;SimpleWhitespace&quot;, color=&quot;#777777&quot;, fillcolor=&quot;#eeeeee&quot;];&#10;    SimpleWhitespace1Value [label=&quot; '  ' &quot;, color=&quot;#777777&quot;, fillcolor=&quot;#cccccc&quot;, shape=box];&#10;    Comment1 [label=&quot;Comment&quot;, color=&quot;#777777&quot;, fillcolor=&quot;#eeeeee&quot;];&#10;    Comment1Value [label=&quot; '# calls fn' &quot;, color=&quot;#777777&quot;, fillcolor=&quot;#cccccc&quot;, shape=box];&#10;&#10;    Module -&gt; SimpleStatementLine [label=&quot;body[0]&quot;];&#10;    SimpleStatementLine -&gt; Expr [label=&quot;body[0]&quot;];&#10;    Expr -&gt; Call [label=&quot;value&quot;];&#10;    Call -&gt; Name [label=&quot;func&quot;];&#10;    Name -&gt; NameValue [label=&quot;value&quot;];&#10;    Call -&gt; Arg1 [label=&quot;args[0]&quot;];&#10;    Arg1 -&gt; Integer1 [label=&quot;value&quot;];&#10;    Integer1 -&gt; Integer1Value [label=&quot;value&quot;];&#10;    Arg1 -&gt; Comma [label=&quot;comma&quot;];&#10;    Comma -&gt; SimpleWhitespace2 [label=&quot;whitespace_after&quot;];&#10;    SimpleWhitespace2 -&gt; SimpleWhitespace2Value [label=&quot;value&quot;];&#10;    Call -&gt; Arg2 [label=&quot;args[1]&quot;];&#10;    Arg2 -&gt; Integer2 [label=&quot;value&quot;];&#10;    Integer2 -&gt; Integer2Value [label=&quot;value&quot;];&#10;    SimpleStatementLine -&gt; TrailingWhitespace [label=&quot;trailing_whitespace&quot;];&#10;    TrailingWhitespace -&gt; SimpleWhitespace1 [label=&quot;whitespace&quot;];&#10;    SimpleWhitespace1 -&gt; SimpleWhitespace1Value [label=&quot;value&quot;];&#10;    TrailingWhitespace -&gt; Comment1 [label=&quot;comment&quot;];&#10;    Comment1 -&gt; Comment1Value [label=&quot;value&quot;];&#10;}" id="172" name="Google Shape;172;p9"/>
          <p:cNvPicPr preferRelativeResize="0"/>
          <p:nvPr/>
        </p:nvPicPr>
        <p:blipFill rotWithShape="1">
          <a:blip r:embed="rId3">
            <a:alphaModFix/>
          </a:blip>
          <a:srcRect b="12541" l="-580" r="580" t="0"/>
          <a:stretch/>
        </p:blipFill>
        <p:spPr>
          <a:xfrm>
            <a:off x="4887625" y="1285325"/>
            <a:ext cx="6350749" cy="50581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5244e2e2af_0_10"/>
          <p:cNvSpPr txBox="1"/>
          <p:nvPr>
            <p:ph type="ctrTitle"/>
          </p:nvPr>
        </p:nvSpPr>
        <p:spPr>
          <a:xfrm>
            <a:off x="391050" y="2570275"/>
            <a:ext cx="8802000" cy="2387700"/>
          </a:xfrm>
          <a:prstGeom prst="rect">
            <a:avLst/>
          </a:prstGeom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Our Goal -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ML Driven Refactoring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4f22ff3e9f_1_3"/>
          <p:cNvSpPr txBox="1"/>
          <p:nvPr/>
        </p:nvSpPr>
        <p:spPr>
          <a:xfrm>
            <a:off x="11334000" y="90225"/>
            <a:ext cx="91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404040"/>
                </a:solidFill>
              </a:rPr>
              <a:t>”</a:t>
            </a:r>
            <a:endParaRPr sz="1800">
              <a:solidFill>
                <a:srgbClr val="404040"/>
              </a:solidFill>
            </a:endParaRPr>
          </a:p>
        </p:txBody>
      </p:sp>
      <p:sp>
        <p:nvSpPr>
          <p:cNvPr id="185" name="Google Shape;185;g34f22ff3e9f_1_3"/>
          <p:cNvSpPr/>
          <p:nvPr/>
        </p:nvSpPr>
        <p:spPr>
          <a:xfrm>
            <a:off x="22550" y="11275"/>
            <a:ext cx="12192000" cy="9588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86" name="Google Shape;186;g34f22ff3e9f_1_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0847" y="0"/>
            <a:ext cx="7795492" cy="6857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5244e2e2af_0_16"/>
          <p:cNvSpPr txBox="1"/>
          <p:nvPr>
            <p:ph idx="1" type="body"/>
          </p:nvPr>
        </p:nvSpPr>
        <p:spPr>
          <a:xfrm>
            <a:off x="575300" y="2782913"/>
            <a:ext cx="4823100" cy="23913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91160" lvl="0" marL="45720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2560"/>
              <a:buChar char="•"/>
            </a:pPr>
            <a:r>
              <a:rPr lang="en-US" sz="2200"/>
              <a:t>A Natural Fit</a:t>
            </a:r>
            <a:endParaRPr sz="2200"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•"/>
            </a:pPr>
            <a:r>
              <a:rPr lang="en-US" sz="2200"/>
              <a:t>Structural Awareness</a:t>
            </a:r>
            <a:endParaRPr sz="2200"/>
          </a:p>
          <a:p>
            <a:pPr indent="0" lvl="0" marL="91440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40404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93" name="Google Shape;193;g35244e2e2af_0_16" title="Screenshot 2025-04-16 at 3.20.57 PM.png"/>
          <p:cNvPicPr preferRelativeResize="0"/>
          <p:nvPr/>
        </p:nvPicPr>
        <p:blipFill rotWithShape="1">
          <a:blip r:embed="rId3">
            <a:alphaModFix/>
          </a:blip>
          <a:srcRect b="23300" l="54044" r="19422" t="59894"/>
          <a:stretch/>
        </p:blipFill>
        <p:spPr>
          <a:xfrm>
            <a:off x="5639275" y="2426150"/>
            <a:ext cx="5598174" cy="310482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4" name="Google Shape;194;g35244e2e2af_0_16"/>
          <p:cNvCxnSpPr/>
          <p:nvPr/>
        </p:nvCxnSpPr>
        <p:spPr>
          <a:xfrm rot="10800000">
            <a:off x="4355250" y="3473950"/>
            <a:ext cx="2466900" cy="7077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95" name="Google Shape;195;g35244e2e2af_0_16"/>
          <p:cNvSpPr txBox="1"/>
          <p:nvPr>
            <p:ph type="title"/>
          </p:nvPr>
        </p:nvSpPr>
        <p:spPr>
          <a:xfrm>
            <a:off x="642600" y="1354825"/>
            <a:ext cx="10360200" cy="5982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9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/>
              <a:t>Possible solution: GNN</a:t>
            </a:r>
            <a:endParaRPr sz="3400">
              <a:solidFill>
                <a:srgbClr val="3C78D8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6"/>
          <p:cNvSpPr txBox="1"/>
          <p:nvPr>
            <p:ph type="title"/>
          </p:nvPr>
        </p:nvSpPr>
        <p:spPr>
          <a:xfrm>
            <a:off x="566928" y="1499616"/>
            <a:ext cx="6951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/>
              <a:t>Past Work</a:t>
            </a:r>
            <a:endParaRPr/>
          </a:p>
        </p:txBody>
      </p:sp>
      <p:pic>
        <p:nvPicPr>
          <p:cNvPr id="201" name="Google Shape;201;p16" title="302timelin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7000" y="2520900"/>
            <a:ext cx="11878000" cy="272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1"/>
          <p:cNvSpPr txBox="1"/>
          <p:nvPr>
            <p:ph type="title"/>
          </p:nvPr>
        </p:nvSpPr>
        <p:spPr>
          <a:xfrm>
            <a:off x="566928" y="1499616"/>
            <a:ext cx="10515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/>
              <a:t>Future Work</a:t>
            </a:r>
            <a:endParaRPr/>
          </a:p>
        </p:txBody>
      </p:sp>
      <p:sp>
        <p:nvSpPr>
          <p:cNvPr id="207" name="Google Shape;207;p21"/>
          <p:cNvSpPr txBox="1"/>
          <p:nvPr>
            <p:ph idx="1" type="body"/>
          </p:nvPr>
        </p:nvSpPr>
        <p:spPr>
          <a:xfrm>
            <a:off x="566928" y="2185416"/>
            <a:ext cx="5139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920"/>
              <a:buNone/>
            </a:pPr>
            <a:r>
              <a:rPr lang="en-US"/>
              <a:t>Our future goals include:</a:t>
            </a:r>
            <a:endParaRPr/>
          </a:p>
        </p:txBody>
      </p:sp>
      <p:sp>
        <p:nvSpPr>
          <p:cNvPr id="208" name="Google Shape;208;p21"/>
          <p:cNvSpPr txBox="1"/>
          <p:nvPr>
            <p:ph idx="2" type="body"/>
          </p:nvPr>
        </p:nvSpPr>
        <p:spPr>
          <a:xfrm>
            <a:off x="566928" y="2593340"/>
            <a:ext cx="5140515" cy="3535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82879" lvl="1" marL="6858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</a:pPr>
            <a:r>
              <a:rPr lang="en-US"/>
              <a:t>ML-Driven Refactoring</a:t>
            </a:r>
            <a:endParaRPr/>
          </a:p>
          <a:p>
            <a:pPr indent="-182879" lvl="1" marL="6858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</a:pPr>
            <a:r>
              <a:rPr lang="en-US"/>
              <a:t>Extensive Testing, </a:t>
            </a:r>
            <a:r>
              <a:rPr lang="en-US"/>
              <a:t>Server Power</a:t>
            </a:r>
            <a:endParaRPr b="1" i="1" u="sng"/>
          </a:p>
          <a:p>
            <a:pPr indent="-182879" lvl="1" marL="6858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</a:pPr>
            <a:r>
              <a:rPr lang="en-US"/>
              <a:t>UI Development and Data Visualization</a:t>
            </a:r>
            <a:endParaRPr/>
          </a:p>
          <a:p>
            <a:pPr indent="-182879" lvl="1" marL="6858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-"/>
            </a:pPr>
            <a:r>
              <a:rPr lang="en-US"/>
              <a:t>Developing a Java Profiler                  (Meta Strobelight)</a:t>
            </a:r>
            <a:endParaRPr/>
          </a:p>
        </p:txBody>
      </p:sp>
      <p:pic>
        <p:nvPicPr>
          <p:cNvPr id="209" name="Google Shape;20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81393" y="2012672"/>
            <a:ext cx="4514850" cy="300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8"/>
          <p:cNvSpPr txBox="1"/>
          <p:nvPr>
            <p:ph type="title"/>
          </p:nvPr>
        </p:nvSpPr>
        <p:spPr>
          <a:xfrm>
            <a:off x="566928" y="1001018"/>
            <a:ext cx="42489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/>
              <a:t>A Call to Action</a:t>
            </a:r>
            <a:endParaRPr/>
          </a:p>
        </p:txBody>
      </p:sp>
      <p:sp>
        <p:nvSpPr>
          <p:cNvPr id="215" name="Google Shape;215;p18"/>
          <p:cNvSpPr txBox="1"/>
          <p:nvPr>
            <p:ph idx="1" type="body"/>
          </p:nvPr>
        </p:nvSpPr>
        <p:spPr>
          <a:xfrm>
            <a:off x="566928" y="2185416"/>
            <a:ext cx="4248912" cy="39682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Char char="•"/>
            </a:pPr>
            <a:r>
              <a:t/>
            </a:r>
            <a:endParaRPr/>
          </a:p>
        </p:txBody>
      </p:sp>
      <p:pic>
        <p:nvPicPr>
          <p:cNvPr id="216" name="Google Shape;21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00675" y="2090550"/>
            <a:ext cx="6486525" cy="3977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4475" y="2090550"/>
            <a:ext cx="4773825" cy="396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4dd5570ebb_6_1"/>
          <p:cNvSpPr txBox="1"/>
          <p:nvPr>
            <p:ph type="title"/>
          </p:nvPr>
        </p:nvSpPr>
        <p:spPr>
          <a:xfrm>
            <a:off x="566928" y="1499616"/>
            <a:ext cx="6951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/>
              <a:t>Presentation Overview</a:t>
            </a:r>
            <a:endParaRPr/>
          </a:p>
        </p:txBody>
      </p:sp>
      <p:sp>
        <p:nvSpPr>
          <p:cNvPr id="223" name="Google Shape;223;g34dd5570ebb_6_1"/>
          <p:cNvSpPr txBox="1"/>
          <p:nvPr>
            <p:ph idx="1" type="body"/>
          </p:nvPr>
        </p:nvSpPr>
        <p:spPr>
          <a:xfrm>
            <a:off x="566926" y="2185425"/>
            <a:ext cx="4368900" cy="396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65760" lvl="0" marL="4572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AutoNum type="arabicPeriod"/>
            </a:pPr>
            <a:r>
              <a:rPr lang="en-US"/>
              <a:t>Purpose and Motivation</a:t>
            </a:r>
            <a:endParaRPr/>
          </a:p>
          <a:p>
            <a:pPr indent="-36576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160"/>
              <a:buAutoNum type="arabicPeriod"/>
            </a:pPr>
            <a:r>
              <a:rPr lang="en-US"/>
              <a:t>Scalene Profiler</a:t>
            </a:r>
            <a:endParaRPr/>
          </a:p>
          <a:p>
            <a:pPr indent="-36576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160"/>
              <a:buAutoNum type="arabicPeriod"/>
            </a:pPr>
            <a:r>
              <a:rPr lang="en-US"/>
              <a:t>LibCST Refactoring </a:t>
            </a:r>
            <a:endParaRPr/>
          </a:p>
          <a:p>
            <a:pPr indent="-36576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160"/>
              <a:buAutoNum type="arabicPeriod"/>
            </a:pPr>
            <a:r>
              <a:rPr lang="en-US"/>
              <a:t>Profiling Methodology</a:t>
            </a:r>
            <a:endParaRPr/>
          </a:p>
          <a:p>
            <a:pPr indent="-36576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160"/>
              <a:buAutoNum type="arabicPeriod"/>
            </a:pPr>
            <a:r>
              <a:rPr lang="en-US"/>
              <a:t>ML Integration</a:t>
            </a:r>
            <a:endParaRPr/>
          </a:p>
          <a:p>
            <a:pPr indent="-36576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160"/>
              <a:buAutoNum type="arabicPeriod"/>
            </a:pPr>
            <a:r>
              <a:rPr lang="en-US"/>
              <a:t>Timeline &amp; Future Work</a:t>
            </a:r>
            <a:endParaRPr/>
          </a:p>
          <a:p>
            <a:pPr indent="-365760" lvl="0" marL="4572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160"/>
              <a:buAutoNum type="arabicPeriod"/>
            </a:pPr>
            <a:r>
              <a:rPr lang="en-US"/>
              <a:t>Call to Action &amp; Q&amp;A</a:t>
            </a:r>
            <a:endParaRPr/>
          </a:p>
          <a:p>
            <a:pPr indent="0" lvl="0" marL="4572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9144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160"/>
              <a:buNone/>
            </a:pPr>
            <a:r>
              <a:t/>
            </a:r>
            <a:endParaRPr/>
          </a:p>
        </p:txBody>
      </p:sp>
      <p:pic>
        <p:nvPicPr>
          <p:cNvPr id="224" name="Google Shape;224;g34dd5570ebb_6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5600" y="2687050"/>
            <a:ext cx="8117101" cy="1483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9"/>
          <p:cNvSpPr txBox="1"/>
          <p:nvPr>
            <p:ph type="title"/>
          </p:nvPr>
        </p:nvSpPr>
        <p:spPr>
          <a:xfrm>
            <a:off x="566928" y="1499616"/>
            <a:ext cx="6951600" cy="591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None/>
            </a:pPr>
            <a:r>
              <a:rPr lang="en-US"/>
              <a:t>Accreditations and Sources</a:t>
            </a:r>
            <a:endParaRPr/>
          </a:p>
        </p:txBody>
      </p:sp>
      <p:sp>
        <p:nvSpPr>
          <p:cNvPr id="230" name="Google Shape;230;p19"/>
          <p:cNvSpPr txBox="1"/>
          <p:nvPr>
            <p:ph idx="1" type="body"/>
          </p:nvPr>
        </p:nvSpPr>
        <p:spPr>
          <a:xfrm>
            <a:off x="566928" y="2185416"/>
            <a:ext cx="6951472" cy="39682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41300" lvl="0" marL="2286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360"/>
              <a:buChar char="•"/>
            </a:pPr>
            <a:r>
              <a:rPr lang="en-US" sz="1300">
                <a:solidFill>
                  <a:srgbClr val="000000"/>
                </a:solidFill>
              </a:rPr>
              <a:t>Berger, E. D., Stern, S., &amp; Pizzorno, J. A. (2023). </a:t>
            </a:r>
            <a:r>
              <a:rPr i="1" lang="en-US" sz="1300">
                <a:solidFill>
                  <a:srgbClr val="000000"/>
                </a:solidFill>
              </a:rPr>
              <a:t>Triangulating Python Performance Issues with SCALENE</a:t>
            </a:r>
            <a:r>
              <a:rPr lang="en-US" sz="1300">
                <a:solidFill>
                  <a:srgbClr val="000000"/>
                </a:solidFill>
              </a:rPr>
              <a:t>. Proceedings of the 17th USENIX Symposium on Operating Systems Design and Implementation (OSDI '23).​</a:t>
            </a:r>
            <a:endParaRPr sz="1300">
              <a:solidFill>
                <a:srgbClr val="000000"/>
              </a:solidFill>
            </a:endParaRPr>
          </a:p>
          <a:p>
            <a:pPr indent="0" lvl="0" marL="22860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7abde9c7342a212d_31"/>
          <p:cNvSpPr txBox="1"/>
          <p:nvPr>
            <p:ph type="ctrTitle"/>
          </p:nvPr>
        </p:nvSpPr>
        <p:spPr>
          <a:xfrm>
            <a:off x="658368" y="1490663"/>
            <a:ext cx="66384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6666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</a:pPr>
            <a:r>
              <a:rPr lang="en-US"/>
              <a:t>Thank You!</a:t>
            </a:r>
            <a:endParaRPr/>
          </a:p>
        </p:txBody>
      </p:sp>
      <p:sp>
        <p:nvSpPr>
          <p:cNvPr id="236" name="Google Shape;236;g7abde9c7342a212d_31"/>
          <p:cNvSpPr txBox="1"/>
          <p:nvPr>
            <p:ph idx="1" type="subTitle"/>
          </p:nvPr>
        </p:nvSpPr>
        <p:spPr>
          <a:xfrm>
            <a:off x="658368" y="3970337"/>
            <a:ext cx="6638400" cy="22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3360"/>
              <a:buNone/>
            </a:pPr>
            <a:r>
              <a:rPr lang="en-US"/>
              <a:t> </a:t>
            </a:r>
            <a:endParaRPr/>
          </a:p>
          <a:p>
            <a:pPr indent="0" lvl="0" marL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3360"/>
              <a:buNone/>
            </a:pPr>
            <a:r>
              <a:t/>
            </a:r>
            <a:endParaRPr/>
          </a:p>
        </p:txBody>
      </p:sp>
      <p:sp>
        <p:nvSpPr>
          <p:cNvPr id="237" name="Google Shape;237;g7abde9c7342a212d_31"/>
          <p:cNvSpPr txBox="1"/>
          <p:nvPr>
            <p:ph idx="1" type="subTitle"/>
          </p:nvPr>
        </p:nvSpPr>
        <p:spPr>
          <a:xfrm>
            <a:off x="734568" y="4122737"/>
            <a:ext cx="6638400" cy="22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rtl="0" algn="l">
              <a:lnSpc>
                <a:spcPct val="96666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</a:pPr>
            <a:r>
              <a:rPr lang="en-US"/>
              <a:t>Any Questions?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B Brand Colors">
      <a:dk1>
        <a:srgbClr val="666666"/>
      </a:dk1>
      <a:lt1>
        <a:srgbClr val="FFFFFF"/>
      </a:lt1>
      <a:dk2>
        <a:srgbClr val="005BBB"/>
      </a:dk2>
      <a:lt2>
        <a:srgbClr val="FFFFFF"/>
      </a:lt2>
      <a:accent1>
        <a:srgbClr val="005BBB"/>
      </a:accent1>
      <a:accent2>
        <a:srgbClr val="41B6E6"/>
      </a:accent2>
      <a:accent3>
        <a:srgbClr val="E56D54"/>
      </a:accent3>
      <a:accent4>
        <a:srgbClr val="666666"/>
      </a:accent4>
      <a:accent5>
        <a:srgbClr val="007681"/>
      </a:accent5>
      <a:accent6>
        <a:srgbClr val="003E51"/>
      </a:accent6>
      <a:hlink>
        <a:srgbClr val="005BBB"/>
      </a:hlink>
      <a:folHlink>
        <a:srgbClr val="D86A4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2019-04-04T19:20:28Z</dcterms:created>
  <dc:creator>Division of University Communications</dc:creator>
</cp:coreProperties>
</file>