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66" r:id="rId3"/>
    <p:sldId id="261" r:id="rId4"/>
    <p:sldId id="258" r:id="rId5"/>
    <p:sldId id="259" r:id="rId6"/>
    <p:sldId id="279" r:id="rId7"/>
    <p:sldId id="280" r:id="rId8"/>
    <p:sldId id="281" r:id="rId9"/>
    <p:sldId id="282" r:id="rId10"/>
    <p:sldId id="283" r:id="rId11"/>
    <p:sldId id="275" r:id="rId12"/>
    <p:sldId id="284" r:id="rId13"/>
    <p:sldId id="286" r:id="rId14"/>
    <p:sldId id="276" r:id="rId15"/>
    <p:sldId id="270" r:id="rId16"/>
    <p:sldId id="277" r:id="rId17"/>
    <p:sldId id="260" r:id="rId18"/>
    <p:sldId id="278" r:id="rId19"/>
    <p:sldId id="267" r:id="rId20"/>
    <p:sldId id="268" r:id="rId21"/>
    <p:sldId id="269" r:id="rId22"/>
    <p:sldId id="28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576" autoAdjust="0"/>
    <p:restoredTop sz="94674"/>
  </p:normalViewPr>
  <p:slideViewPr>
    <p:cSldViewPr snapToGrid="0" snapToObjects="1" showGuides="1">
      <p:cViewPr>
        <p:scale>
          <a:sx n="45" d="100"/>
          <a:sy n="45" d="100"/>
        </p:scale>
        <p:origin x="-24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6178098221"/>
          <c:y val="2.5400691351395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56840057012175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76-3B46-BD5F-CEBF4EAFF1F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76-3B46-BD5F-CEBF4EAFF1F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76-3B46-BD5F-CEBF4EAFF1F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76-3B46-BD5F-CEBF4EAFF1F1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5.5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76-3B46-BD5F-CEBF4EAFF1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pattFill prst="dk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376-3B46-BD5F-CEBF4EAFF1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2019</c:v>
                </c:pt>
              </c:strCache>
            </c:strRef>
          </c:tx>
          <c:spPr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1.5</c:v>
                </c:pt>
                <c:pt idx="3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76-3B46-BD5F-CEBF4EAF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090258048"/>
        <c:axId val="-1979269504"/>
      </c:barChart>
      <c:catAx>
        <c:axId val="-2090258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1979269504"/>
        <c:crosses val="autoZero"/>
        <c:auto val="1"/>
        <c:lblAlgn val="ctr"/>
        <c:lblOffset val="100"/>
        <c:noMultiLvlLbl val="0"/>
      </c:catAx>
      <c:valAx>
        <c:axId val="-197926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09025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88928944124"/>
          <c:y val="0.91740905551153096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6178098221"/>
          <c:y val="2.5400691351395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56840057012175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76-3B46-BD5F-CEBF4EAFF1F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76-3B46-BD5F-CEBF4EAFF1F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76-3B46-BD5F-CEBF4EAFF1F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76-3B46-BD5F-CEBF4EAFF1F1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5.5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76-3B46-BD5F-CEBF4EAFF1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pattFill prst="dk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376-3B46-BD5F-CEBF4EAFF1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2019</c:v>
                </c:pt>
              </c:strCache>
            </c:strRef>
          </c:tx>
          <c:spPr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1.5</c:v>
                </c:pt>
                <c:pt idx="3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76-3B46-BD5F-CEBF4EAF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090258048"/>
        <c:axId val="-1979269504"/>
      </c:barChart>
      <c:catAx>
        <c:axId val="-2090258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1979269504"/>
        <c:crosses val="autoZero"/>
        <c:auto val="1"/>
        <c:lblAlgn val="ctr"/>
        <c:lblOffset val="100"/>
        <c:noMultiLvlLbl val="0"/>
      </c:catAx>
      <c:valAx>
        <c:axId val="-197926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09025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88928944124"/>
          <c:y val="0.91740905551153096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400" y="6041329"/>
            <a:ext cx="4800600" cy="3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402" y="6041329"/>
            <a:ext cx="4800595" cy="3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4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5600" y="321249"/>
            <a:ext cx="4800600" cy="3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6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1079500"/>
            <a:ext cx="7093434" cy="5778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1066800"/>
            <a:ext cx="7077369" cy="29325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6A37-D6A5-0C40-A676-03633A9F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1066800"/>
            <a:ext cx="12192000" cy="5791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55600" y="321249"/>
            <a:ext cx="4800600" cy="35582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439930E-F253-DE46-B952-3E0957740773}"/>
              </a:ext>
            </a:extLst>
          </p:cNvPr>
          <p:cNvSpPr txBox="1">
            <a:spLocks/>
          </p:cNvSpPr>
          <p:nvPr userDrawn="1"/>
        </p:nvSpPr>
        <p:spPr>
          <a:xfrm>
            <a:off x="6938176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53C135-CEC6-A548-8917-8F7FEB82358B}" type="slidenum">
              <a:rPr lang="en-US" b="1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63" r:id="rId3"/>
    <p:sldLayoutId id="2147483669" r:id="rId4"/>
    <p:sldLayoutId id="2147483650" r:id="rId5"/>
    <p:sldLayoutId id="2147483664" r:id="rId6"/>
    <p:sldLayoutId id="2147483652" r:id="rId7"/>
    <p:sldLayoutId id="2147483653" r:id="rId8"/>
    <p:sldLayoutId id="2147483654" r:id="rId9"/>
    <p:sldLayoutId id="2147483655" r:id="rId10"/>
    <p:sldLayoutId id="2147483665" r:id="rId11"/>
    <p:sldLayoutId id="2147483666" r:id="rId12"/>
    <p:sldLayoutId id="2147483660" r:id="rId13"/>
    <p:sldLayoutId id="2147483667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uffalo.edu/brand/creative/color/color-palette.html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energy optimization -- Greenai </a:t>
            </a:r>
          </a:p>
        </p:txBody>
      </p:sp>
      <p:sp>
        <p:nvSpPr>
          <p:cNvPr id="7" name="Sub-topic">
            <a:extLst>
              <a:ext uri="{FF2B5EF4-FFF2-40B4-BE49-F238E27FC236}">
                <a16:creationId xmlns:a16="http://schemas.microsoft.com/office/drawing/2014/main" id="{9C71998B-4791-F94C-B599-D1D7674364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look into quantifiable, energy focused  profiling and refactoring.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purpose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8F3A7AD-BFCA-B14B-8363-A4C1A4B74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AI workloads like Mask R-CNN and ResNet-50 consume significant amounts of energy.</a:t>
            </a:r>
          </a:p>
          <a:p>
            <a:r>
              <a:rPr lang="en-US" dirty="0"/>
              <a:t>Most traditional profiling tools are performance based, rather than energy focused.</a:t>
            </a:r>
          </a:p>
          <a:p>
            <a:r>
              <a:rPr lang="en-US" dirty="0"/>
              <a:t>We want to measure and visualize energy use at the method level in AI programs.</a:t>
            </a:r>
          </a:p>
          <a:p>
            <a:r>
              <a:rPr lang="en-US" dirty="0"/>
              <a:t>Our goal is to build a highly granular tool to help developers optimize the sustainability of AI workloads.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Toolchain</a:t>
            </a:r>
          </a:p>
        </p:txBody>
      </p:sp>
      <p:sp>
        <p:nvSpPr>
          <p:cNvPr id="13" name="Compare Section">
            <a:extLst>
              <a:ext uri="{FF2B5EF4-FFF2-40B4-BE49-F238E27FC236}">
                <a16:creationId xmlns:a16="http://schemas.microsoft.com/office/drawing/2014/main" id="{384880BB-377B-F24A-A7CA-B308CACEC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Scalene</a:t>
            </a:r>
          </a:p>
        </p:txBody>
      </p:sp>
      <p:sp>
        <p:nvSpPr>
          <p:cNvPr id="14" name="Compare Section - Text">
            <a:extLst>
              <a:ext uri="{FF2B5EF4-FFF2-40B4-BE49-F238E27FC236}">
                <a16:creationId xmlns:a16="http://schemas.microsoft.com/office/drawing/2014/main" id="{48B0953F-74D7-0140-8C86-93FC4F66A3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Keep it general </a:t>
            </a:r>
          </a:p>
          <a:p>
            <a:r>
              <a:rPr lang="en-US" dirty="0" err="1"/>
              <a:t>pyth</a:t>
            </a:r>
            <a:r>
              <a:rPr lang="en-US" dirty="0"/>
              <a:t> </a:t>
            </a:r>
          </a:p>
          <a:p>
            <a:r>
              <a:rPr lang="en-US" dirty="0"/>
              <a:t>Punit et consectetur </a:t>
            </a:r>
          </a:p>
          <a:p>
            <a:pPr lvl="1"/>
            <a:r>
              <a:rPr lang="en-US" dirty="0"/>
              <a:t>Lobortis</a:t>
            </a:r>
          </a:p>
          <a:p>
            <a:pPr lvl="1"/>
            <a:r>
              <a:rPr lang="en-US" dirty="0"/>
              <a:t>Convallis</a:t>
            </a:r>
          </a:p>
          <a:p>
            <a:pPr lvl="1"/>
            <a:r>
              <a:rPr lang="en-US" dirty="0"/>
              <a:t>Egestas</a:t>
            </a:r>
          </a:p>
        </p:txBody>
      </p:sp>
      <p:sp>
        <p:nvSpPr>
          <p:cNvPr id="15" name="Contrast Section">
            <a:extLst>
              <a:ext uri="{FF2B5EF4-FFF2-40B4-BE49-F238E27FC236}">
                <a16:creationId xmlns:a16="http://schemas.microsoft.com/office/drawing/2014/main" id="{E0F9A328-ECA9-CC4E-B0A6-FA23EEE9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85416"/>
            <a:ext cx="5138928" cy="379078"/>
          </a:xfrm>
        </p:spPr>
        <p:txBody>
          <a:bodyPr/>
          <a:lstStyle/>
          <a:p>
            <a:r>
              <a:rPr lang="en-US" dirty="0" err="1"/>
              <a:t>libcst</a:t>
            </a:r>
            <a:endParaRPr lang="en-US" dirty="0"/>
          </a:p>
        </p:txBody>
      </p:sp>
      <p:sp>
        <p:nvSpPr>
          <p:cNvPr id="16" name="Contrast Section - Text">
            <a:extLst>
              <a:ext uri="{FF2B5EF4-FFF2-40B4-BE49-F238E27FC236}">
                <a16:creationId xmlns:a16="http://schemas.microsoft.com/office/drawing/2014/main" id="{2EBC524D-C050-3F4A-88E2-E7EBEEE90AF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Here is where probably give a general intro as Layne will go into depth</a:t>
            </a:r>
          </a:p>
          <a:p>
            <a:r>
              <a:rPr lang="en-US" dirty="0"/>
              <a:t>Lorem ipsum dolor </a:t>
            </a:r>
          </a:p>
          <a:p>
            <a:r>
              <a:rPr lang="en-US" dirty="0"/>
              <a:t>Punit et consectetur </a:t>
            </a:r>
          </a:p>
          <a:p>
            <a:pPr lvl="1"/>
            <a:r>
              <a:rPr lang="en-US" dirty="0"/>
              <a:t>Lobortis</a:t>
            </a:r>
          </a:p>
          <a:p>
            <a:pPr lvl="1"/>
            <a:r>
              <a:rPr lang="en-US" dirty="0"/>
              <a:t>Convallis</a:t>
            </a:r>
          </a:p>
          <a:p>
            <a:pPr lvl="1"/>
            <a:r>
              <a:rPr lang="en-US" dirty="0"/>
              <a:t>Egestas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-topic">
            <a:extLst>
              <a:ext uri="{FF2B5EF4-FFF2-40B4-BE49-F238E27FC236}">
                <a16:creationId xmlns:a16="http://schemas.microsoft.com/office/drawing/2014/main" id="{B0882130-6200-324C-8A79-B506D3428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Scalene –       our profiler</a:t>
            </a:r>
          </a:p>
        </p:txBody>
      </p:sp>
      <p:sp>
        <p:nvSpPr>
          <p:cNvPr id="5" name="Section Divider Title">
            <a:extLst>
              <a:ext uri="{FF2B5EF4-FFF2-40B4-BE49-F238E27FC236}">
                <a16:creationId xmlns:a16="http://schemas.microsoft.com/office/drawing/2014/main" id="{F57E7746-DDC4-614A-A7D1-B72950AB5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8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Scalene?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C69252C7-A6C4-2849-AD0F-63A6BD9AF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Christian pulls relevant technical details explaining scalene profiler in more depth than in toolchain overview – technical architecture and data flow goes here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1E50738D-7032-9E47-B0B9-7BBDC1E9132A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9F853175-EF70-DC43-A2FF-9AF57465D425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31CD-4E1B-1408-C10B-6B501E6B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1C50ADA7-09D5-4321-B2BC-639F4451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Building on Scalene 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0551C9CB-276A-8891-700A-40834F06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where technical details about our expansions on scalene can go using RAPL based power readings, showing how we map to energy usage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DF185907-C2FE-0BC5-122A-3961A5CFFB04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3D955B22-8DBA-4F99-A726-1248F1B109F4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5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3E60-A30A-3145-44DB-6F3768B0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7F4435A0-C9D6-EF1D-97DA-AC7D83EA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Profiling at the Method Level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57C9EEF7-1255-CD08-F26F-04BCAF85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where technical details about our finished profiler based on scalene, with an example can go.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ED4BA310-A912-CDF4-11C9-4E4EBB717A20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C21E9B81-DD58-0649-CDB0-43F490B1F924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54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2D3C-1E99-0F0B-0564-9A0CA1E5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-topic">
            <a:extLst>
              <a:ext uri="{FF2B5EF4-FFF2-40B4-BE49-F238E27FC236}">
                <a16:creationId xmlns:a16="http://schemas.microsoft.com/office/drawing/2014/main" id="{D90149E9-A876-E998-1621-BF669B1F0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LibCST</a:t>
            </a:r>
            <a:r>
              <a:rPr lang="en-US" dirty="0"/>
              <a:t> –       refactoring </a:t>
            </a:r>
          </a:p>
        </p:txBody>
      </p:sp>
      <p:sp>
        <p:nvSpPr>
          <p:cNvPr id="5" name="Section Divider Title">
            <a:extLst>
              <a:ext uri="{FF2B5EF4-FFF2-40B4-BE49-F238E27FC236}">
                <a16:creationId xmlns:a16="http://schemas.microsoft.com/office/drawing/2014/main" id="{1083C8B8-7DCA-4335-3271-42EBF9F0D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16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B1E8-7470-FD4E-5C8C-5ACFF87E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2493CE2D-F645-99CB-277D-EF6E8E45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LibCST</a:t>
            </a:r>
            <a:r>
              <a:rPr lang="en-US" dirty="0"/>
              <a:t>?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3965BAB2-8A34-4190-C95B-5C891D38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Layne pulls relevant technical details explaining scalene profiler in more depth than in toolchain overview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DCE681F1-8373-F27C-9FF7-D7B7324CF30C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D5675C76-3B8D-4919-92F5-AE584550681D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9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63B3-29C7-C66C-441F-E1ABD815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468D1218-6D05-B32C-A827-DE01D237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?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828F5AC3-5F40-F728-2B97-C3FA5E4EC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Layne pulls relevant technical details explaining </a:t>
            </a:r>
            <a:r>
              <a:rPr lang="en-US" dirty="0" err="1"/>
              <a:t>Libcst</a:t>
            </a:r>
            <a:r>
              <a:rPr lang="en-US" dirty="0"/>
              <a:t> and how we will refactor in more depth than in toolchain overview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B4526C08-72A8-DB20-3EF3-E8E4F165E24E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56D366AB-A367-CE86-18E6-662A729FA9E6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23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787C-A156-C949-B002-E923B98D1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Divider Slide to copy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2E184-15FA-224C-9FCF-24CEF4BD68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23678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4A1D-F615-F09F-3463-A651F1EE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02F3E4D0-5621-FB9A-8F39-5929FF8D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assumptions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E36A48D1-9139-A020-808E-8DE68B78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 we can go over some of the limitations in our tech stack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B422E4E6-6AE7-28E5-4ECA-76BB23B0FE3C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533FB501-A41B-6727-A334-417AE5EAC33E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9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87D6-A8A5-1D37-0664-CA2931EF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EF5BF90-97C0-DE2D-BDCF-D90A006A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Timeline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4FA1EF30-64F5-F2FF-CB04-596B601E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Ahmed can go over our timeline in depth and our development process.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042DD430-4D7A-D55C-2E9A-75F3737F1C42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F7A27DCF-B0C7-5086-C78B-5B074FE166CF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9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74FC-53A4-0A06-D3AD-BB6E87A9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30C89A2-AD4A-4943-1160-85017748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 cases – a demo?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7017032B-CFB7-E382-3DB6-814FD31E4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Ahmed can go over our target use cases in depth and how it relates to our development process.</a:t>
            </a:r>
          </a:p>
        </p:txBody>
      </p:sp>
      <p:sp>
        <p:nvSpPr>
          <p:cNvPr id="6" name="Slide Note">
            <a:extLst>
              <a:ext uri="{FF2B5EF4-FFF2-40B4-BE49-F238E27FC236}">
                <a16:creationId xmlns:a16="http://schemas.microsoft.com/office/drawing/2014/main" id="{3F908FC9-FCB8-DBC6-260A-5FFF9407CCEA}"/>
              </a:ext>
            </a:extLst>
          </p:cNvPr>
          <p:cNvSpPr txBox="1"/>
          <p:nvPr/>
        </p:nvSpPr>
        <p:spPr>
          <a:xfrm>
            <a:off x="5679605" y="4930806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7" name="Dashed Arrow" descr="Dashed Arrow">
            <a:extLst>
              <a:ext uri="{FF2B5EF4-FFF2-40B4-BE49-F238E27FC236}">
                <a16:creationId xmlns:a16="http://schemas.microsoft.com/office/drawing/2014/main" id="{D977F50B-2E34-50C5-2D3A-B68AA5360566}"/>
              </a:ext>
            </a:extLst>
          </p:cNvPr>
          <p:cNvSpPr/>
          <p:nvPr/>
        </p:nvSpPr>
        <p:spPr>
          <a:xfrm rot="21073004">
            <a:off x="4798779" y="3871664"/>
            <a:ext cx="1399130" cy="1663105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3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D8FCB22-2DC7-E144-8B90-49F436AB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01018"/>
            <a:ext cx="4248912" cy="1089529"/>
          </a:xfrm>
        </p:spPr>
        <p:txBody>
          <a:bodyPr/>
          <a:lstStyle/>
          <a:p>
            <a:r>
              <a:rPr lang="en-US" dirty="0"/>
              <a:t>Takeaways -- A Call to Action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6009897C-A3BC-2848-B684-A4F3D9EAC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This may be a good area for </a:t>
            </a:r>
            <a:r>
              <a:rPr lang="en-US" dirty="0" err="1"/>
              <a:t>ahmed</a:t>
            </a:r>
            <a:r>
              <a:rPr lang="en-US" dirty="0"/>
              <a:t> to present and reiterate the broad picture of AI energy use</a:t>
            </a:r>
          </a:p>
          <a:p>
            <a:r>
              <a:rPr lang="en-US" dirty="0"/>
              <a:t>A visual to the right maybe</a:t>
            </a:r>
          </a:p>
          <a:p>
            <a:r>
              <a:rPr lang="en-US" dirty="0"/>
              <a:t>Also a brief statistical overview</a:t>
            </a:r>
          </a:p>
        </p:txBody>
      </p:sp>
      <p:graphicFrame>
        <p:nvGraphicFramePr>
          <p:cNvPr id="5" name="Graph" descr="A bar graph of A, B, C and D comparing data from 2017, 2018 and 2019.">
            <a:extLst>
              <a:ext uri="{FF2B5EF4-FFF2-40B4-BE49-F238E27FC236}">
                <a16:creationId xmlns:a16="http://schemas.microsoft.com/office/drawing/2014/main" id="{6B0A2837-0078-2944-BE87-47D25AA35388}"/>
              </a:ext>
            </a:extLst>
          </p:cNvPr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401045808"/>
              </p:ext>
            </p:extLst>
          </p:nvPr>
        </p:nvGraphicFramePr>
        <p:xfrm>
          <a:off x="5162550" y="1976438"/>
          <a:ext cx="6324600" cy="396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9645C-D718-8DCD-48BA-3F4B9318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5FC34CC4-1E0B-5EA3-AE74-07832887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Accreditations and Sources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BEE674E-866E-2F7F-FB6F-9DB8900E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we can reference academic papers, citations for any documentation on scalene or </a:t>
            </a:r>
            <a:r>
              <a:rPr lang="en-US" dirty="0" err="1"/>
              <a:t>libcst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564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Content Slide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ipsum and dolor sit amet, punit et consectetur adipiscing elit. A mauris and vehicula dui in neque dignissim, in nisl varius. Sed and erat ut magna vulputate feugiat. Quisque varius et placerat erat lobortis congue. Integer a arcu vel aante bibendum scelerisque. aliquet vulputate feugiat. Quisque varius.</a:t>
            </a:r>
          </a:p>
        </p:txBody>
      </p:sp>
      <p:sp>
        <p:nvSpPr>
          <p:cNvPr id="4" name="Side Text - Column 2">
            <a:extLst>
              <a:ext uri="{FF2B5EF4-FFF2-40B4-BE49-F238E27FC236}">
                <a16:creationId xmlns:a16="http://schemas.microsoft.com/office/drawing/2014/main" id="{141D36D5-50E8-C945-95D9-AC162A32E5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Etiam molestie velit vitae dolor and a euismod, sit amet finibus risus mattis. In ornare convallis velit vitae cursus. Integer egestas sit amet mi vehicula sollicitudin. Pellentesque habitant malesuada fames ac libero et turpis.</a:t>
            </a:r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C684-40C2-7337-AD07-90E17161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7BC18D3F-E2AC-33C7-DD2C-F08DF593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Slide</a:t>
            </a:r>
          </a:p>
        </p:txBody>
      </p:sp>
      <p:sp>
        <p:nvSpPr>
          <p:cNvPr id="13" name="Compare Section">
            <a:extLst>
              <a:ext uri="{FF2B5EF4-FFF2-40B4-BE49-F238E27FC236}">
                <a16:creationId xmlns:a16="http://schemas.microsoft.com/office/drawing/2014/main" id="{7B14375F-EFFB-BA33-1F0C-CC186B175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Section</a:t>
            </a:r>
          </a:p>
        </p:txBody>
      </p:sp>
      <p:sp>
        <p:nvSpPr>
          <p:cNvPr id="14" name="Compare Section - Text">
            <a:extLst>
              <a:ext uri="{FF2B5EF4-FFF2-40B4-BE49-F238E27FC236}">
                <a16:creationId xmlns:a16="http://schemas.microsoft.com/office/drawing/2014/main" id="{4FBCE360-7972-B9B3-8F44-7678E70A9E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Lorem ipsum dolor sit amet, punit et consectetur adipiscing elit. Mauris and vehicula dui in neque dignissim, in nisl varius. Sed and erat ut magna.</a:t>
            </a:r>
          </a:p>
          <a:p>
            <a:r>
              <a:rPr lang="en-US" dirty="0"/>
              <a:t>Lorem ipsum dolor </a:t>
            </a:r>
          </a:p>
          <a:p>
            <a:r>
              <a:rPr lang="en-US" dirty="0"/>
              <a:t>Punit et consectetur </a:t>
            </a:r>
          </a:p>
          <a:p>
            <a:pPr lvl="1"/>
            <a:r>
              <a:rPr lang="en-US" dirty="0"/>
              <a:t>Lobortis</a:t>
            </a:r>
          </a:p>
          <a:p>
            <a:pPr lvl="1"/>
            <a:r>
              <a:rPr lang="en-US" dirty="0"/>
              <a:t>Convallis</a:t>
            </a:r>
          </a:p>
          <a:p>
            <a:pPr lvl="1"/>
            <a:r>
              <a:rPr lang="en-US" dirty="0"/>
              <a:t>Egestas</a:t>
            </a:r>
          </a:p>
        </p:txBody>
      </p:sp>
      <p:sp>
        <p:nvSpPr>
          <p:cNvPr id="15" name="Contrast Section">
            <a:extLst>
              <a:ext uri="{FF2B5EF4-FFF2-40B4-BE49-F238E27FC236}">
                <a16:creationId xmlns:a16="http://schemas.microsoft.com/office/drawing/2014/main" id="{1A877B87-DC90-18A6-FF7B-B2F3F2847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Contrast Section</a:t>
            </a:r>
          </a:p>
        </p:txBody>
      </p:sp>
      <p:sp>
        <p:nvSpPr>
          <p:cNvPr id="16" name="Contrast Section - Text">
            <a:extLst>
              <a:ext uri="{FF2B5EF4-FFF2-40B4-BE49-F238E27FC236}">
                <a16:creationId xmlns:a16="http://schemas.microsoft.com/office/drawing/2014/main" id="{8FEA0C20-BBDB-E03B-372B-AAE08C891E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Lorem ipsum dolor sit amet, punit et consectetur adipiscing elit. Mauris and vehicula dui in neque dignissim varius. Sed and erat ut magna.</a:t>
            </a:r>
          </a:p>
          <a:p>
            <a:r>
              <a:rPr lang="en-US" dirty="0"/>
              <a:t>Lorem ipsum dolor </a:t>
            </a:r>
          </a:p>
          <a:p>
            <a:r>
              <a:rPr lang="en-US" dirty="0"/>
              <a:t>Punit et consectetur </a:t>
            </a:r>
          </a:p>
          <a:p>
            <a:pPr lvl="1"/>
            <a:r>
              <a:rPr lang="en-US" dirty="0"/>
              <a:t>Lobortis</a:t>
            </a:r>
          </a:p>
          <a:p>
            <a:pPr lvl="1"/>
            <a:r>
              <a:rPr lang="en-US" dirty="0"/>
              <a:t>Convallis</a:t>
            </a:r>
          </a:p>
          <a:p>
            <a:pPr lvl="1"/>
            <a:r>
              <a:rPr lang="en-US" dirty="0"/>
              <a:t>Egestas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72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and Photo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4229366B-9DFE-0244-A864-A3ECC889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Em psum dolor sit amet, consectetur adipiscing elit. Mauris vehicula dui in neque dignissim, in aliquet nisl varius. Sed a erat ut magna vulputate feugiat. Quisque varius et libero placerat erat.</a:t>
            </a:r>
          </a:p>
        </p:txBody>
      </p:sp>
      <p:sp>
        <p:nvSpPr>
          <p:cNvPr id="13" name="Picture" descr="Image Placeholder">
            <a:extLst>
              <a:ext uri="{FF2B5EF4-FFF2-40B4-BE49-F238E27FC236}">
                <a16:creationId xmlns:a16="http://schemas.microsoft.com/office/drawing/2014/main" id="{2F7EAA57-DE56-CA46-BAA1-5C2C5EAB102B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ote">
            <a:extLst>
              <a:ext uri="{FF2B5EF4-FFF2-40B4-BE49-F238E27FC236}">
                <a16:creationId xmlns:a16="http://schemas.microsoft.com/office/drawing/2014/main" id="{767C01DD-707F-4742-B0A0-9274A977492A}"/>
              </a:ext>
            </a:extLst>
          </p:cNvPr>
          <p:cNvSpPr txBox="1"/>
          <p:nvPr/>
        </p:nvSpPr>
        <p:spPr>
          <a:xfrm>
            <a:off x="2974505" y="5442239"/>
            <a:ext cx="21943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Neque in dignissim, and quet nis et umis varius.</a:t>
            </a:r>
          </a:p>
        </p:txBody>
      </p:sp>
      <p:sp>
        <p:nvSpPr>
          <p:cNvPr id="15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14218706" flipV="1">
            <a:off x="3979434" y="4366041"/>
            <a:ext cx="1399130" cy="1664208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5C8F0397-2A2F-FA44-A11D-5385B5FC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and Photos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CA49974-DF4B-1F47-B7B0-A6B562561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Em psum dolor sit amet, consectetur adipiscing elit. Mauris vehicula dui in neque dignissim, in aliquet nisl varius. Sed a erat ut magna vulputate feugiat.</a:t>
            </a:r>
          </a:p>
          <a:p>
            <a:pPr marL="0" indent="0">
              <a:buNone/>
            </a:pPr>
            <a:r>
              <a:rPr lang="en-US" dirty="0"/>
              <a:t>Quisque varius and libero placerat erat lobortis congue. Integer a arcu vel ante bibendum scelerisque. Class aptent taciti sociosqu ad litora torquent.</a:t>
            </a:r>
          </a:p>
        </p:txBody>
      </p:sp>
      <p:sp>
        <p:nvSpPr>
          <p:cNvPr id="4" name="Picture 1" descr="Image Placeholder">
            <a:extLst>
              <a:ext uri="{FF2B5EF4-FFF2-40B4-BE49-F238E27FC236}">
                <a16:creationId xmlns:a16="http://schemas.microsoft.com/office/drawing/2014/main" id="{B1F17BA3-23C4-3B4E-85C3-A81B0EA38005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2" descr="Image Placeholder">
            <a:extLst>
              <a:ext uri="{FF2B5EF4-FFF2-40B4-BE49-F238E27FC236}">
                <a16:creationId xmlns:a16="http://schemas.microsoft.com/office/drawing/2014/main" id="{69A0A1A5-BB4E-934D-B1EF-313FE656F60F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3" descr="Image Placeholder">
            <a:extLst>
              <a:ext uri="{FF2B5EF4-FFF2-40B4-BE49-F238E27FC236}">
                <a16:creationId xmlns:a16="http://schemas.microsoft.com/office/drawing/2014/main" id="{6A8BDB67-79C3-4445-AFFB-FB6745C31282}"/>
              </a:ext>
            </a:extLst>
          </p:cNvPr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7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26C5-C52F-F949-A47F-7A5D9EEE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Full-width Image</a:t>
            </a:r>
          </a:p>
        </p:txBody>
      </p:sp>
      <p:sp>
        <p:nvSpPr>
          <p:cNvPr id="3" name="Picture Placeholder 2" descr="Image Placeholder">
            <a:extLst>
              <a:ext uri="{FF2B5EF4-FFF2-40B4-BE49-F238E27FC236}">
                <a16:creationId xmlns:a16="http://schemas.microsoft.com/office/drawing/2014/main" id="{BEA6F36B-113D-9F45-8A30-80A667B4576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1061545"/>
            <a:ext cx="12192000" cy="579645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ote">
            <a:extLst>
              <a:ext uri="{FF2B5EF4-FFF2-40B4-BE49-F238E27FC236}">
                <a16:creationId xmlns:a16="http://schemas.microsoft.com/office/drawing/2014/main" id="{76EB69E9-D864-B941-AB6C-61A8550EA028}"/>
              </a:ext>
            </a:extLst>
          </p:cNvPr>
          <p:cNvSpPr txBox="1"/>
          <p:nvPr/>
        </p:nvSpPr>
        <p:spPr>
          <a:xfrm>
            <a:off x="8659906" y="5800827"/>
            <a:ext cx="324522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charset="0"/>
                <a:ea typeface="Arial" charset="0"/>
                <a:cs typeface="Arial" charset="0"/>
              </a:rPr>
              <a:t>NOTE:</a:t>
            </a:r>
            <a:r>
              <a:rPr lang="en-US" sz="1600" dirty="0">
                <a:latin typeface="Arial" charset="0"/>
                <a:ea typeface="Arial" charset="0"/>
                <a:cs typeface="Arial" charset="0"/>
              </a:rPr>
              <a:t> Remember to update slide title behind full-width image to fulfill accessibility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50825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DFB9-777C-C38F-EB4A-4FC3DF86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DE3E9746-4692-9D4B-3F5B-13CE65CC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and Graph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7C98C59-5C69-9B86-9586-5DF3D9C0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Lorem ipsum dolor sit amet, punit et consectetur adipiscing elit. Mauris and vehicula dui in neque dignissim, in nisl varius. Sed and erat magna vulputate.</a:t>
            </a:r>
          </a:p>
          <a:p>
            <a:r>
              <a:rPr lang="en-US" dirty="0"/>
              <a:t>Lorem ipsum dolor sit amet</a:t>
            </a:r>
          </a:p>
          <a:p>
            <a:r>
              <a:rPr lang="en-US" dirty="0"/>
              <a:t>consectetur adipiscing elit</a:t>
            </a:r>
          </a:p>
          <a:p>
            <a:r>
              <a:rPr lang="en-US" dirty="0"/>
              <a:t>Quisque ac orci in turpis</a:t>
            </a:r>
          </a:p>
          <a:p>
            <a:r>
              <a:rPr lang="en-US" dirty="0"/>
              <a:t>Donec vitae justo consectetur</a:t>
            </a:r>
          </a:p>
        </p:txBody>
      </p:sp>
      <p:graphicFrame>
        <p:nvGraphicFramePr>
          <p:cNvPr id="5" name="Graph" descr="A bar graph of A, B, C and D comparing data from 2017, 2018 and 2019.">
            <a:extLst>
              <a:ext uri="{FF2B5EF4-FFF2-40B4-BE49-F238E27FC236}">
                <a16:creationId xmlns:a16="http://schemas.microsoft.com/office/drawing/2014/main" id="{A31DB659-EEF4-8B22-137B-0DD579BD0893}"/>
              </a:ext>
            </a:extLst>
          </p:cNvPr>
          <p:cNvGraphicFramePr>
            <a:graphicFrameLocks noGrp="1"/>
          </p:cNvGraphicFramePr>
          <p:nvPr>
            <p:ph type="chart" sz="quarter" idx="16"/>
          </p:nvPr>
        </p:nvGraphicFramePr>
        <p:xfrm>
          <a:off x="5162550" y="1976438"/>
          <a:ext cx="6324600" cy="396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4793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322C1FBC-6C22-3741-A1E5-5765F327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F400F1EF-FBD9-C849-BEB9-91B7DFEA7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7" y="2185417"/>
            <a:ext cx="7915591" cy="1297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Copy and paste these graphic elements to give your presentation a touch of color. Only use the official UB brand color palette. For more information, please visit </a:t>
            </a:r>
            <a:r>
              <a:rPr lang="en-US" dirty="0">
                <a:hlinkClick r:id="rId2"/>
              </a:rPr>
              <a:t>buffalo.edu/brand/creative/color/color-palette</a:t>
            </a:r>
            <a:r>
              <a:rPr lang="en-US" dirty="0"/>
              <a:t>.</a:t>
            </a:r>
          </a:p>
        </p:txBody>
      </p:sp>
      <p:sp>
        <p:nvSpPr>
          <p:cNvPr id="5" name="Solid Number Bullet - 1" descr="Solid Number Bullet - 1">
            <a:extLst>
              <a:ext uri="{FF2B5EF4-FFF2-40B4-BE49-F238E27FC236}">
                <a16:creationId xmlns:a16="http://schemas.microsoft.com/office/drawing/2014/main" id="{9BDE9D2E-69F7-9140-89C4-6979918DC69B}"/>
              </a:ext>
            </a:extLst>
          </p:cNvPr>
          <p:cNvSpPr/>
          <p:nvPr/>
        </p:nvSpPr>
        <p:spPr>
          <a:xfrm>
            <a:off x="672986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6" name="Solid Number Bullet - 2" descr="Solid Number Bullet - 2">
            <a:extLst>
              <a:ext uri="{FF2B5EF4-FFF2-40B4-BE49-F238E27FC236}">
                <a16:creationId xmlns:a16="http://schemas.microsoft.com/office/drawing/2014/main" id="{CFBFB34A-A05F-AA43-9D54-5B8821DD6CB0}"/>
              </a:ext>
            </a:extLst>
          </p:cNvPr>
          <p:cNvSpPr/>
          <p:nvPr/>
        </p:nvSpPr>
        <p:spPr>
          <a:xfrm>
            <a:off x="1148123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7" name="Solid Number Bullet - 3" descr="Solid Number Bullet - 3">
            <a:extLst>
              <a:ext uri="{FF2B5EF4-FFF2-40B4-BE49-F238E27FC236}">
                <a16:creationId xmlns:a16="http://schemas.microsoft.com/office/drawing/2014/main" id="{71CF67B5-F769-E94C-B848-2E3B98329910}"/>
              </a:ext>
            </a:extLst>
          </p:cNvPr>
          <p:cNvSpPr/>
          <p:nvPr/>
        </p:nvSpPr>
        <p:spPr>
          <a:xfrm>
            <a:off x="1623260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8" name="Solid Number Bullet - 4" descr="Solid Number Bullet - 4">
            <a:extLst>
              <a:ext uri="{FF2B5EF4-FFF2-40B4-BE49-F238E27FC236}">
                <a16:creationId xmlns:a16="http://schemas.microsoft.com/office/drawing/2014/main" id="{9B806999-D028-AD46-89EB-9C7635F5FE37}"/>
              </a:ext>
            </a:extLst>
          </p:cNvPr>
          <p:cNvSpPr/>
          <p:nvPr/>
        </p:nvSpPr>
        <p:spPr>
          <a:xfrm>
            <a:off x="2098397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9" name="Solid Number Bullet - 5" descr="Solid Number Bullet - 5">
            <a:extLst>
              <a:ext uri="{FF2B5EF4-FFF2-40B4-BE49-F238E27FC236}">
                <a16:creationId xmlns:a16="http://schemas.microsoft.com/office/drawing/2014/main" id="{94A6161E-7249-7D4C-A36D-9DB44C24C5F8}"/>
              </a:ext>
            </a:extLst>
          </p:cNvPr>
          <p:cNvSpPr/>
          <p:nvPr/>
        </p:nvSpPr>
        <p:spPr>
          <a:xfrm>
            <a:off x="2573534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0" name="Solid Number Bullet - 6" descr="Solid Number Bullet - 6">
            <a:extLst>
              <a:ext uri="{FF2B5EF4-FFF2-40B4-BE49-F238E27FC236}">
                <a16:creationId xmlns:a16="http://schemas.microsoft.com/office/drawing/2014/main" id="{38AB8107-02E2-0745-B0EA-F119BBD971C3}"/>
              </a:ext>
            </a:extLst>
          </p:cNvPr>
          <p:cNvSpPr/>
          <p:nvPr/>
        </p:nvSpPr>
        <p:spPr>
          <a:xfrm>
            <a:off x="3048671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1" name="Solid Number Bullet - 7" descr="Solid Number Bullet - 7">
            <a:extLst>
              <a:ext uri="{FF2B5EF4-FFF2-40B4-BE49-F238E27FC236}">
                <a16:creationId xmlns:a16="http://schemas.microsoft.com/office/drawing/2014/main" id="{8A6C9DA1-B6E4-5045-8F84-1B7D9CE4BA17}"/>
              </a:ext>
            </a:extLst>
          </p:cNvPr>
          <p:cNvSpPr/>
          <p:nvPr/>
        </p:nvSpPr>
        <p:spPr>
          <a:xfrm>
            <a:off x="3523808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2" name="Solid Number Bullet - 8" descr="Solid Number Bullet - 8">
            <a:extLst>
              <a:ext uri="{FF2B5EF4-FFF2-40B4-BE49-F238E27FC236}">
                <a16:creationId xmlns:a16="http://schemas.microsoft.com/office/drawing/2014/main" id="{3F6A784E-285A-CC44-9AC8-8FE835DDE76C}"/>
              </a:ext>
            </a:extLst>
          </p:cNvPr>
          <p:cNvSpPr/>
          <p:nvPr/>
        </p:nvSpPr>
        <p:spPr>
          <a:xfrm>
            <a:off x="3998945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3" name="Solid Number Bullet - 9" descr="Solid Number Bullet - 9">
            <a:extLst>
              <a:ext uri="{FF2B5EF4-FFF2-40B4-BE49-F238E27FC236}">
                <a16:creationId xmlns:a16="http://schemas.microsoft.com/office/drawing/2014/main" id="{11D14EF2-FFC6-2947-B8C0-A27BE38188FE}"/>
              </a:ext>
            </a:extLst>
          </p:cNvPr>
          <p:cNvSpPr/>
          <p:nvPr/>
        </p:nvSpPr>
        <p:spPr>
          <a:xfrm>
            <a:off x="4474082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4" name="Solid Number Bullet - 0" descr="Solid Number Bullet - 0">
            <a:extLst>
              <a:ext uri="{FF2B5EF4-FFF2-40B4-BE49-F238E27FC236}">
                <a16:creationId xmlns:a16="http://schemas.microsoft.com/office/drawing/2014/main" id="{907C430C-F359-5F4A-B347-866B0A511F8B}"/>
              </a:ext>
            </a:extLst>
          </p:cNvPr>
          <p:cNvSpPr/>
          <p:nvPr/>
        </p:nvSpPr>
        <p:spPr>
          <a:xfrm>
            <a:off x="4949217" y="4205307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5" name="Open Number Bullet - 1" descr="Open Number Bullet - 1">
            <a:extLst>
              <a:ext uri="{FF2B5EF4-FFF2-40B4-BE49-F238E27FC236}">
                <a16:creationId xmlns:a16="http://schemas.microsoft.com/office/drawing/2014/main" id="{363285DE-D895-744F-B0B6-B8623D9E1032}"/>
              </a:ext>
            </a:extLst>
          </p:cNvPr>
          <p:cNvSpPr/>
          <p:nvPr/>
        </p:nvSpPr>
        <p:spPr>
          <a:xfrm>
            <a:off x="673735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6" name="Open Number Bullet - 2" descr="Open Number Bullet - 2">
            <a:extLst>
              <a:ext uri="{FF2B5EF4-FFF2-40B4-BE49-F238E27FC236}">
                <a16:creationId xmlns:a16="http://schemas.microsoft.com/office/drawing/2014/main" id="{910FB3F0-A4C5-464E-864B-64C1EA2B939F}"/>
              </a:ext>
            </a:extLst>
          </p:cNvPr>
          <p:cNvSpPr/>
          <p:nvPr/>
        </p:nvSpPr>
        <p:spPr>
          <a:xfrm>
            <a:off x="1148872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7" name="Open Number Bullet - 3" descr="Open Number Bullet - 3">
            <a:extLst>
              <a:ext uri="{FF2B5EF4-FFF2-40B4-BE49-F238E27FC236}">
                <a16:creationId xmlns:a16="http://schemas.microsoft.com/office/drawing/2014/main" id="{FA82DCA1-D7DF-DF47-AC5F-26E137CC39C5}"/>
              </a:ext>
            </a:extLst>
          </p:cNvPr>
          <p:cNvSpPr/>
          <p:nvPr/>
        </p:nvSpPr>
        <p:spPr>
          <a:xfrm>
            <a:off x="1624009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8" name="Open Number Bullet - 4" descr="Open Number Bullet - 4">
            <a:extLst>
              <a:ext uri="{FF2B5EF4-FFF2-40B4-BE49-F238E27FC236}">
                <a16:creationId xmlns:a16="http://schemas.microsoft.com/office/drawing/2014/main" id="{EB2527A9-D503-F44F-9228-02CB4636EA13}"/>
              </a:ext>
            </a:extLst>
          </p:cNvPr>
          <p:cNvSpPr/>
          <p:nvPr/>
        </p:nvSpPr>
        <p:spPr>
          <a:xfrm>
            <a:off x="2099146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9" name="Open Number Bullet - 5" descr="Open Number Bullet - 5">
            <a:extLst>
              <a:ext uri="{FF2B5EF4-FFF2-40B4-BE49-F238E27FC236}">
                <a16:creationId xmlns:a16="http://schemas.microsoft.com/office/drawing/2014/main" id="{53DAD49D-F570-C842-B5F9-8D206900D93F}"/>
              </a:ext>
            </a:extLst>
          </p:cNvPr>
          <p:cNvSpPr/>
          <p:nvPr/>
        </p:nvSpPr>
        <p:spPr>
          <a:xfrm>
            <a:off x="2574283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20" name="Open Number Bullet - 6" descr="Open Number Bullet - 6">
            <a:extLst>
              <a:ext uri="{FF2B5EF4-FFF2-40B4-BE49-F238E27FC236}">
                <a16:creationId xmlns:a16="http://schemas.microsoft.com/office/drawing/2014/main" id="{21AD636D-3E00-2649-AB2A-A09015288144}"/>
              </a:ext>
            </a:extLst>
          </p:cNvPr>
          <p:cNvSpPr/>
          <p:nvPr/>
        </p:nvSpPr>
        <p:spPr>
          <a:xfrm>
            <a:off x="3049420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21" name="Open Number Bullet - 7" descr="Open Number Bullet - 7">
            <a:extLst>
              <a:ext uri="{FF2B5EF4-FFF2-40B4-BE49-F238E27FC236}">
                <a16:creationId xmlns:a16="http://schemas.microsoft.com/office/drawing/2014/main" id="{01283700-49F1-354C-B109-F449BC6133A7}"/>
              </a:ext>
            </a:extLst>
          </p:cNvPr>
          <p:cNvSpPr/>
          <p:nvPr/>
        </p:nvSpPr>
        <p:spPr>
          <a:xfrm>
            <a:off x="3524557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2" name="Open Number Bullet - 8" descr="Open Number Bullet - 8">
            <a:extLst>
              <a:ext uri="{FF2B5EF4-FFF2-40B4-BE49-F238E27FC236}">
                <a16:creationId xmlns:a16="http://schemas.microsoft.com/office/drawing/2014/main" id="{54434CB3-D0C6-3148-9BF5-56F6A3E556EA}"/>
              </a:ext>
            </a:extLst>
          </p:cNvPr>
          <p:cNvSpPr/>
          <p:nvPr/>
        </p:nvSpPr>
        <p:spPr>
          <a:xfrm>
            <a:off x="3999694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3" name="Open Number Bullet - 9" descr="Open Number Bullet - 9">
            <a:extLst>
              <a:ext uri="{FF2B5EF4-FFF2-40B4-BE49-F238E27FC236}">
                <a16:creationId xmlns:a16="http://schemas.microsoft.com/office/drawing/2014/main" id="{2185A9C0-E982-0540-9D52-E3216DA502E7}"/>
              </a:ext>
            </a:extLst>
          </p:cNvPr>
          <p:cNvSpPr/>
          <p:nvPr/>
        </p:nvSpPr>
        <p:spPr>
          <a:xfrm>
            <a:off x="4474831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4" name="Open Number Bullet - 0" descr="Open Number Bullet - 0">
            <a:extLst>
              <a:ext uri="{FF2B5EF4-FFF2-40B4-BE49-F238E27FC236}">
                <a16:creationId xmlns:a16="http://schemas.microsoft.com/office/drawing/2014/main" id="{36217621-8E80-874B-8555-D928285BFB9A}"/>
              </a:ext>
            </a:extLst>
          </p:cNvPr>
          <p:cNvSpPr/>
          <p:nvPr/>
        </p:nvSpPr>
        <p:spPr>
          <a:xfrm>
            <a:off x="4949966" y="4645897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5" name="Solid Letter Bullet - A" descr="Solid Letter Bullet - A">
            <a:extLst>
              <a:ext uri="{FF2B5EF4-FFF2-40B4-BE49-F238E27FC236}">
                <a16:creationId xmlns:a16="http://schemas.microsoft.com/office/drawing/2014/main" id="{C43651E4-D3BB-924C-961E-6B7CF6EEB9D7}"/>
              </a:ext>
            </a:extLst>
          </p:cNvPr>
          <p:cNvSpPr/>
          <p:nvPr/>
        </p:nvSpPr>
        <p:spPr>
          <a:xfrm>
            <a:off x="672986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6" name="Solid Letter Bullet - B" descr="Solid Letter Bullet - B">
            <a:extLst>
              <a:ext uri="{FF2B5EF4-FFF2-40B4-BE49-F238E27FC236}">
                <a16:creationId xmlns:a16="http://schemas.microsoft.com/office/drawing/2014/main" id="{FB72489E-43FA-214D-89DD-29783C169B7E}"/>
              </a:ext>
            </a:extLst>
          </p:cNvPr>
          <p:cNvSpPr/>
          <p:nvPr/>
        </p:nvSpPr>
        <p:spPr>
          <a:xfrm>
            <a:off x="1148123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7" name="Solid Letter Bullet - C" descr="Solid Letter Bullet - C">
            <a:extLst>
              <a:ext uri="{FF2B5EF4-FFF2-40B4-BE49-F238E27FC236}">
                <a16:creationId xmlns:a16="http://schemas.microsoft.com/office/drawing/2014/main" id="{DBB1A76D-86CE-0746-9C98-10DE6C936E34}"/>
              </a:ext>
            </a:extLst>
          </p:cNvPr>
          <p:cNvSpPr/>
          <p:nvPr/>
        </p:nvSpPr>
        <p:spPr>
          <a:xfrm>
            <a:off x="1623260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8" name="Solid Letter Bullet - D" descr="Solid Letter Bullet - D">
            <a:extLst>
              <a:ext uri="{FF2B5EF4-FFF2-40B4-BE49-F238E27FC236}">
                <a16:creationId xmlns:a16="http://schemas.microsoft.com/office/drawing/2014/main" id="{333F25FD-E1DA-8E46-9645-190E6B89D556}"/>
              </a:ext>
            </a:extLst>
          </p:cNvPr>
          <p:cNvSpPr/>
          <p:nvPr/>
        </p:nvSpPr>
        <p:spPr>
          <a:xfrm>
            <a:off x="2098397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9" name="Solid Letter Bullet - E" descr="Solid Letter Bullet - E">
            <a:extLst>
              <a:ext uri="{FF2B5EF4-FFF2-40B4-BE49-F238E27FC236}">
                <a16:creationId xmlns:a16="http://schemas.microsoft.com/office/drawing/2014/main" id="{73A3EBB2-6E6E-0640-B422-827B358BA212}"/>
              </a:ext>
            </a:extLst>
          </p:cNvPr>
          <p:cNvSpPr/>
          <p:nvPr/>
        </p:nvSpPr>
        <p:spPr>
          <a:xfrm>
            <a:off x="2573534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0" name="Solid Letter Bullet - F" descr="Solid Letter Bullet - F">
            <a:extLst>
              <a:ext uri="{FF2B5EF4-FFF2-40B4-BE49-F238E27FC236}">
                <a16:creationId xmlns:a16="http://schemas.microsoft.com/office/drawing/2014/main" id="{9CD85998-D01D-5941-92A3-4119FA76E3CA}"/>
              </a:ext>
            </a:extLst>
          </p:cNvPr>
          <p:cNvSpPr/>
          <p:nvPr/>
        </p:nvSpPr>
        <p:spPr>
          <a:xfrm>
            <a:off x="3048671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1" name="Solid Letter Bullet - G" descr="Solid Letter Bullet - G">
            <a:extLst>
              <a:ext uri="{FF2B5EF4-FFF2-40B4-BE49-F238E27FC236}">
                <a16:creationId xmlns:a16="http://schemas.microsoft.com/office/drawing/2014/main" id="{1E869F00-C5E9-C24D-8B9F-D6E89843D1DE}"/>
              </a:ext>
            </a:extLst>
          </p:cNvPr>
          <p:cNvSpPr/>
          <p:nvPr/>
        </p:nvSpPr>
        <p:spPr>
          <a:xfrm>
            <a:off x="3523808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2" name="Solid Letter Bullet - H" descr="Solid Letter Bullet - H">
            <a:extLst>
              <a:ext uri="{FF2B5EF4-FFF2-40B4-BE49-F238E27FC236}">
                <a16:creationId xmlns:a16="http://schemas.microsoft.com/office/drawing/2014/main" id="{48E77232-BC14-D348-A653-B17495DC0BF8}"/>
              </a:ext>
            </a:extLst>
          </p:cNvPr>
          <p:cNvSpPr/>
          <p:nvPr/>
        </p:nvSpPr>
        <p:spPr>
          <a:xfrm>
            <a:off x="3998945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3" name="Solid Letter Bullet - I" descr="Solid Letter Bullet - I">
            <a:extLst>
              <a:ext uri="{FF2B5EF4-FFF2-40B4-BE49-F238E27FC236}">
                <a16:creationId xmlns:a16="http://schemas.microsoft.com/office/drawing/2014/main" id="{D2F593D8-FE4E-EA4D-B9F5-CC39BDD00EA3}"/>
              </a:ext>
            </a:extLst>
          </p:cNvPr>
          <p:cNvSpPr/>
          <p:nvPr/>
        </p:nvSpPr>
        <p:spPr>
          <a:xfrm>
            <a:off x="4474082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4" name="Solid Letter Bullet - J" descr="Solid Letter Bullet - J">
            <a:extLst>
              <a:ext uri="{FF2B5EF4-FFF2-40B4-BE49-F238E27FC236}">
                <a16:creationId xmlns:a16="http://schemas.microsoft.com/office/drawing/2014/main" id="{624D40D6-3CF1-EB4A-BF32-9312E85436B2}"/>
              </a:ext>
            </a:extLst>
          </p:cNvPr>
          <p:cNvSpPr/>
          <p:nvPr/>
        </p:nvSpPr>
        <p:spPr>
          <a:xfrm>
            <a:off x="4949217" y="5464811"/>
            <a:ext cx="223578" cy="22357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5" name="Open Number Bullet - A" descr="Open Letter Bullet - A">
            <a:extLst>
              <a:ext uri="{FF2B5EF4-FFF2-40B4-BE49-F238E27FC236}">
                <a16:creationId xmlns:a16="http://schemas.microsoft.com/office/drawing/2014/main" id="{83F3C210-03AE-BA4C-90A3-385B0032D17E}"/>
              </a:ext>
            </a:extLst>
          </p:cNvPr>
          <p:cNvSpPr/>
          <p:nvPr/>
        </p:nvSpPr>
        <p:spPr>
          <a:xfrm>
            <a:off x="672986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6" name="Open Number Bullet - B" descr="Open Letter Bullet - B">
            <a:extLst>
              <a:ext uri="{FF2B5EF4-FFF2-40B4-BE49-F238E27FC236}">
                <a16:creationId xmlns:a16="http://schemas.microsoft.com/office/drawing/2014/main" id="{ACE28768-CB21-5647-9498-A1FA170479D4}"/>
              </a:ext>
            </a:extLst>
          </p:cNvPr>
          <p:cNvSpPr/>
          <p:nvPr/>
        </p:nvSpPr>
        <p:spPr>
          <a:xfrm>
            <a:off x="1148123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7" name="Open Number Bullet - C" descr="Open Letter Bullet - C">
            <a:extLst>
              <a:ext uri="{FF2B5EF4-FFF2-40B4-BE49-F238E27FC236}">
                <a16:creationId xmlns:a16="http://schemas.microsoft.com/office/drawing/2014/main" id="{AB3AEF61-F46E-9D40-97C6-F55C2A1A9E7D}"/>
              </a:ext>
            </a:extLst>
          </p:cNvPr>
          <p:cNvSpPr/>
          <p:nvPr/>
        </p:nvSpPr>
        <p:spPr>
          <a:xfrm>
            <a:off x="1623260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8" name="Open Number Bullet - D" descr="Open Letter Bullet - D">
            <a:extLst>
              <a:ext uri="{FF2B5EF4-FFF2-40B4-BE49-F238E27FC236}">
                <a16:creationId xmlns:a16="http://schemas.microsoft.com/office/drawing/2014/main" id="{3DCFADD0-E47F-5041-84E8-14FB2D43ABAA}"/>
              </a:ext>
            </a:extLst>
          </p:cNvPr>
          <p:cNvSpPr/>
          <p:nvPr/>
        </p:nvSpPr>
        <p:spPr>
          <a:xfrm>
            <a:off x="2098397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9" name="Open Number Bullet - E" descr="Open Letter Bullet - E">
            <a:extLst>
              <a:ext uri="{FF2B5EF4-FFF2-40B4-BE49-F238E27FC236}">
                <a16:creationId xmlns:a16="http://schemas.microsoft.com/office/drawing/2014/main" id="{F2061BC8-845F-4A4E-8C81-1FB31576B071}"/>
              </a:ext>
            </a:extLst>
          </p:cNvPr>
          <p:cNvSpPr/>
          <p:nvPr/>
        </p:nvSpPr>
        <p:spPr>
          <a:xfrm>
            <a:off x="2573534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40" name="Open Number Bullet - F" descr="Open Letter Bullet - F">
            <a:extLst>
              <a:ext uri="{FF2B5EF4-FFF2-40B4-BE49-F238E27FC236}">
                <a16:creationId xmlns:a16="http://schemas.microsoft.com/office/drawing/2014/main" id="{7FF654E9-6180-0B46-8C97-7D896E1A2112}"/>
              </a:ext>
            </a:extLst>
          </p:cNvPr>
          <p:cNvSpPr/>
          <p:nvPr/>
        </p:nvSpPr>
        <p:spPr>
          <a:xfrm>
            <a:off x="3048671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1" name="Open Number Bullet - G" descr="Open Letter Bullet - G">
            <a:extLst>
              <a:ext uri="{FF2B5EF4-FFF2-40B4-BE49-F238E27FC236}">
                <a16:creationId xmlns:a16="http://schemas.microsoft.com/office/drawing/2014/main" id="{87A2BA54-D3E0-1B40-9E9A-580B7E67DAB5}"/>
              </a:ext>
            </a:extLst>
          </p:cNvPr>
          <p:cNvSpPr/>
          <p:nvPr/>
        </p:nvSpPr>
        <p:spPr>
          <a:xfrm>
            <a:off x="3523808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2" name="Open Number Bullet - H" descr="Open Letter Bullet - H">
            <a:extLst>
              <a:ext uri="{FF2B5EF4-FFF2-40B4-BE49-F238E27FC236}">
                <a16:creationId xmlns:a16="http://schemas.microsoft.com/office/drawing/2014/main" id="{365DBA54-EC0E-8948-9E8C-259ED2BAC3A1}"/>
              </a:ext>
            </a:extLst>
          </p:cNvPr>
          <p:cNvSpPr/>
          <p:nvPr/>
        </p:nvSpPr>
        <p:spPr>
          <a:xfrm>
            <a:off x="3998945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3" name="Open Number Bullet - I" descr="Open Letter Bullet - I">
            <a:extLst>
              <a:ext uri="{FF2B5EF4-FFF2-40B4-BE49-F238E27FC236}">
                <a16:creationId xmlns:a16="http://schemas.microsoft.com/office/drawing/2014/main" id="{CF969215-0521-BF44-93A9-D3584B7DDF38}"/>
              </a:ext>
            </a:extLst>
          </p:cNvPr>
          <p:cNvSpPr/>
          <p:nvPr/>
        </p:nvSpPr>
        <p:spPr>
          <a:xfrm>
            <a:off x="4474082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4" name="Open Number Bullet - J" descr="Open Letter Bullet - J">
            <a:extLst>
              <a:ext uri="{FF2B5EF4-FFF2-40B4-BE49-F238E27FC236}">
                <a16:creationId xmlns:a16="http://schemas.microsoft.com/office/drawing/2014/main" id="{62C57ADC-92E9-2142-B01C-01DB7C26C84B}"/>
              </a:ext>
            </a:extLst>
          </p:cNvPr>
          <p:cNvSpPr/>
          <p:nvPr/>
        </p:nvSpPr>
        <p:spPr>
          <a:xfrm>
            <a:off x="4949217" y="5892208"/>
            <a:ext cx="223578" cy="223578"/>
          </a:xfrm>
          <a:prstGeom prst="ellipse">
            <a:avLst/>
          </a:prstGeom>
          <a:noFill/>
          <a:ln w="3111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5" name="Dashed Linework - End Point Solid Arrows" descr="Dashed Linework with Solid Arrow End Points">
            <a:extLst>
              <a:ext uri="{FF2B5EF4-FFF2-40B4-BE49-F238E27FC236}">
                <a16:creationId xmlns:a16="http://schemas.microsoft.com/office/drawing/2014/main" id="{4718694D-5CAE-3C42-AB92-4BDF9CF942B2}"/>
              </a:ext>
            </a:extLst>
          </p:cNvPr>
          <p:cNvCxnSpPr/>
          <p:nvPr/>
        </p:nvCxnSpPr>
        <p:spPr>
          <a:xfrm>
            <a:off x="5589244" y="4239231"/>
            <a:ext cx="2240280" cy="0"/>
          </a:xfrm>
          <a:prstGeom prst="straightConnector1">
            <a:avLst/>
          </a:prstGeom>
          <a:ln w="20320">
            <a:solidFill>
              <a:schemeClr val="tx2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Dashed Linework - End Point Solid Arrow and Solid Cirlce" descr="Dashed Linework with Solid Arrow End Point and Solid Circle End Point">
            <a:extLst>
              <a:ext uri="{FF2B5EF4-FFF2-40B4-BE49-F238E27FC236}">
                <a16:creationId xmlns:a16="http://schemas.microsoft.com/office/drawing/2014/main" id="{F82CF64B-345F-6B48-8E44-245D562E57B2}"/>
              </a:ext>
            </a:extLst>
          </p:cNvPr>
          <p:cNvCxnSpPr/>
          <p:nvPr/>
        </p:nvCxnSpPr>
        <p:spPr>
          <a:xfrm>
            <a:off x="5589244" y="4579609"/>
            <a:ext cx="2237205" cy="0"/>
          </a:xfrm>
          <a:prstGeom prst="straightConnector1">
            <a:avLst/>
          </a:prstGeom>
          <a:ln w="20320">
            <a:solidFill>
              <a:schemeClr val="tx2"/>
            </a:solidFill>
            <a:prstDash val="dash"/>
            <a:headEnd type="triangle" w="med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ashed Linework - End Point Solid Cirlce and Solid Arrow" descr="Dashed Linework with Solid Circle End Point and Solid Arrow End Point">
            <a:extLst>
              <a:ext uri="{FF2B5EF4-FFF2-40B4-BE49-F238E27FC236}">
                <a16:creationId xmlns:a16="http://schemas.microsoft.com/office/drawing/2014/main" id="{E63AD7B4-6D52-0542-B894-3238FBDA33B0}"/>
              </a:ext>
            </a:extLst>
          </p:cNvPr>
          <p:cNvCxnSpPr/>
          <p:nvPr/>
        </p:nvCxnSpPr>
        <p:spPr>
          <a:xfrm>
            <a:off x="5652308" y="4919986"/>
            <a:ext cx="2237205" cy="0"/>
          </a:xfrm>
          <a:prstGeom prst="straightConnector1">
            <a:avLst/>
          </a:prstGeom>
          <a:ln w="20320">
            <a:solidFill>
              <a:schemeClr val="tx2"/>
            </a:solidFill>
            <a:prstDash val="dash"/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olid Linework - End Point double Open Arrow" descr="Solid Linework with Open Arrow End Points">
            <a:extLst>
              <a:ext uri="{FF2B5EF4-FFF2-40B4-BE49-F238E27FC236}">
                <a16:creationId xmlns:a16="http://schemas.microsoft.com/office/drawing/2014/main" id="{BED61590-D2D9-8E47-8C98-B074E0E94AAD}"/>
              </a:ext>
            </a:extLst>
          </p:cNvPr>
          <p:cNvCxnSpPr/>
          <p:nvPr/>
        </p:nvCxnSpPr>
        <p:spPr>
          <a:xfrm>
            <a:off x="5589596" y="5522150"/>
            <a:ext cx="2265680" cy="816"/>
          </a:xfrm>
          <a:prstGeom prst="straightConnector1">
            <a:avLst/>
          </a:prstGeom>
          <a:ln w="20320">
            <a:solidFill>
              <a:schemeClr val="tx2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olid Linework - End Point Open Arrow and Solid Cirlce" descr="Solid Linework with Open Arrow End Point and Solid Circle End Point">
            <a:extLst>
              <a:ext uri="{FF2B5EF4-FFF2-40B4-BE49-F238E27FC236}">
                <a16:creationId xmlns:a16="http://schemas.microsoft.com/office/drawing/2014/main" id="{9E02BE5A-4754-AF4D-A9F4-6ED3AA2BD06C}"/>
              </a:ext>
            </a:extLst>
          </p:cNvPr>
          <p:cNvCxnSpPr/>
          <p:nvPr/>
        </p:nvCxnSpPr>
        <p:spPr>
          <a:xfrm>
            <a:off x="5589596" y="5813257"/>
            <a:ext cx="2240280" cy="11139"/>
          </a:xfrm>
          <a:prstGeom prst="straightConnector1">
            <a:avLst/>
          </a:prstGeom>
          <a:ln w="20320">
            <a:solidFill>
              <a:schemeClr val="tx2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olid Linework - End Point Solid Cirlce and Open Arrow" descr="Solid Linework with Solid Circle End Point and Open Arrow End Point">
            <a:extLst>
              <a:ext uri="{FF2B5EF4-FFF2-40B4-BE49-F238E27FC236}">
                <a16:creationId xmlns:a16="http://schemas.microsoft.com/office/drawing/2014/main" id="{A7F550CC-C669-AE46-A5CC-167E426D6DA6}"/>
              </a:ext>
            </a:extLst>
          </p:cNvPr>
          <p:cNvCxnSpPr/>
          <p:nvPr/>
        </p:nvCxnSpPr>
        <p:spPr>
          <a:xfrm>
            <a:off x="5647403" y="6114687"/>
            <a:ext cx="2240280" cy="11139"/>
          </a:xfrm>
          <a:prstGeom prst="straightConnector1">
            <a:avLst/>
          </a:prstGeom>
          <a:ln w="20320">
            <a:solidFill>
              <a:schemeClr val="tx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olid Line Arrow" descr="Solid Line Arrow">
            <a:extLst>
              <a:ext uri="{FF2B5EF4-FFF2-40B4-BE49-F238E27FC236}">
                <a16:creationId xmlns:a16="http://schemas.microsoft.com/office/drawing/2014/main" id="{0B19E967-3583-1343-8D0C-667227E78B4E}"/>
              </a:ext>
            </a:extLst>
          </p:cNvPr>
          <p:cNvSpPr/>
          <p:nvPr/>
        </p:nvSpPr>
        <p:spPr>
          <a:xfrm rot="16200000" flipV="1">
            <a:off x="8460327" y="3935137"/>
            <a:ext cx="1399130" cy="1663105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tx2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52" name="Dashed Line Arrow" descr="Dashed Line Arrow">
            <a:extLst>
              <a:ext uri="{FF2B5EF4-FFF2-40B4-BE49-F238E27FC236}">
                <a16:creationId xmlns:a16="http://schemas.microsoft.com/office/drawing/2014/main" id="{758D83C1-A549-814F-BC73-425EBE48D70A}"/>
              </a:ext>
            </a:extLst>
          </p:cNvPr>
          <p:cNvSpPr/>
          <p:nvPr/>
        </p:nvSpPr>
        <p:spPr>
          <a:xfrm rot="16200000" flipV="1">
            <a:off x="8456072" y="4623034"/>
            <a:ext cx="1399130" cy="1663105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charset="0"/>
            </a:endParaRPr>
          </a:p>
        </p:txBody>
      </p:sp>
      <p:cxnSp>
        <p:nvCxnSpPr>
          <p:cNvPr id="53" name="Solid Linework - End Point Double Solid Cirlce" descr="Solid Linework with Solid Circle End Points">
            <a:extLst>
              <a:ext uri="{FF2B5EF4-FFF2-40B4-BE49-F238E27FC236}">
                <a16:creationId xmlns:a16="http://schemas.microsoft.com/office/drawing/2014/main" id="{E4197515-7AD4-B947-8FDF-78C7AD596A5B}"/>
              </a:ext>
            </a:extLst>
          </p:cNvPr>
          <p:cNvCxnSpPr/>
          <p:nvPr/>
        </p:nvCxnSpPr>
        <p:spPr>
          <a:xfrm flipV="1">
            <a:off x="8370099" y="5790006"/>
            <a:ext cx="2192755" cy="816"/>
          </a:xfrm>
          <a:prstGeom prst="straightConnector1">
            <a:avLst/>
          </a:prstGeom>
          <a:ln w="2032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Dashed Linework - End Point Double Solid Cirlce" descr="Dashed Linework with Solid Circle End Points">
            <a:extLst>
              <a:ext uri="{FF2B5EF4-FFF2-40B4-BE49-F238E27FC236}">
                <a16:creationId xmlns:a16="http://schemas.microsoft.com/office/drawing/2014/main" id="{0A8A677A-F10A-3C40-B1E9-C04496F92E00}"/>
              </a:ext>
            </a:extLst>
          </p:cNvPr>
          <p:cNvCxnSpPr/>
          <p:nvPr/>
        </p:nvCxnSpPr>
        <p:spPr>
          <a:xfrm flipV="1">
            <a:off x="8384635" y="6106115"/>
            <a:ext cx="2183046" cy="1802"/>
          </a:xfrm>
          <a:prstGeom prst="straightConnector1">
            <a:avLst/>
          </a:prstGeom>
          <a:ln w="20320">
            <a:solidFill>
              <a:schemeClr val="tx2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909</Words>
  <Application>Microsoft Office PowerPoint</Application>
  <PresentationFormat>Widescreen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Regular</vt:lpstr>
      <vt:lpstr>System Font Regular</vt:lpstr>
      <vt:lpstr>Office Theme</vt:lpstr>
      <vt:lpstr>Ai energy optimization -- Greenai </vt:lpstr>
      <vt:lpstr>Our purpose</vt:lpstr>
      <vt:lpstr>Our Toolchain</vt:lpstr>
      <vt:lpstr>Scalene –       our profiler</vt:lpstr>
      <vt:lpstr>What is Scalene?</vt:lpstr>
      <vt:lpstr>Building on Scalene </vt:lpstr>
      <vt:lpstr>Profiling at the Method Level</vt:lpstr>
      <vt:lpstr>LibCST –       refactoring </vt:lpstr>
      <vt:lpstr>What is LibCST?</vt:lpstr>
      <vt:lpstr>?</vt:lpstr>
      <vt:lpstr>Divider Slide to copy </vt:lpstr>
      <vt:lpstr>Limitations and assumptions</vt:lpstr>
      <vt:lpstr>Our Timeline</vt:lpstr>
      <vt:lpstr>Target use cases – a demo?</vt:lpstr>
      <vt:lpstr>Takeaways -- A Call to Action</vt:lpstr>
      <vt:lpstr>Accreditations and Sources</vt:lpstr>
      <vt:lpstr>Double Content Slide</vt:lpstr>
      <vt:lpstr>Comparison Slide</vt:lpstr>
      <vt:lpstr>Content and Photo</vt:lpstr>
      <vt:lpstr>Content and Photos</vt:lpstr>
      <vt:lpstr>Full-width Image</vt:lpstr>
      <vt:lpstr>Content and Graph</vt:lpstr>
      <vt:lpstr>Graphic Elements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Jake Nathanson</cp:lastModifiedBy>
  <cp:revision>93</cp:revision>
  <dcterms:created xsi:type="dcterms:W3CDTF">2019-04-04T19:20:28Z</dcterms:created>
  <dcterms:modified xsi:type="dcterms:W3CDTF">2025-04-01T13:41:24Z</dcterms:modified>
  <cp:category/>
</cp:coreProperties>
</file>